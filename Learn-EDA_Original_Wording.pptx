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我做了个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Learn-EDA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解决两件事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把散落的工作语料自动建成学习计划给新人学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以及用语料锚定大模型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让所有人查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EDA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时带出处、不编造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通用大模型问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EDA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会编命令编参数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这对我们这行是硬伤。所以它不只是新人工具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也是团队的可信知识库。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四个痛点四个对策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一一对应。资料散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→AI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排学习计划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没人带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→AI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随时教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大模型编造不敢信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语料锚定带出处能回查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这是核心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学了忘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记进度能复习。重点看第三行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这个不只新人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所有同事查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EDA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都受影响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也是这个系统区别于普通大模型的关键。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架构两层。下面知识大脑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关键两点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一是知识和规则分离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,SKILL.md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只放规则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知识按域一个文件一个文件存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所以语料越加不会越重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二是每条知识都带出处登记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,LLM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基于这些带出处的知识回答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不凭空编。上面界面把能力可视化。两层都能单独分发。写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skill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有安全层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试错不破坏现有知识。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学习侧四个功能。看板看进度点章节跳教学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对话教学流式回答带思考过程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讲完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checkpoint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自测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答对答错自动更新掌握度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多轮对话不重讲。演示一下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从看板点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A4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时钟树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跳到教学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看流式回答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checkpoint,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答完掌握度变化。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查询侧和知识沉淀。语料闭环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上传语料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,AI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抽知识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过门禁审核沉淀进库。可信查询是核心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查询只基于已登记语料回答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带出处标到具体手册哪一节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没覆盖的明说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不编。演示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上传一份语料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抽知识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看出处标注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再问一个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EDA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看回答怎么带出处。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三个关键优化。第一个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多份语料怎么变学习计划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——AI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跨文件排成有序课程。第二个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语料越多会不会越重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知识规则分离、按域分文件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加语料是加文件不是撑大文件。第三个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也是对团队最有价值的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大模型编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EDA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命令这个问题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我让它讲什么都带出处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标到具体手册哪一节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能回查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没覆盖的明说。这不只新人受益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所有同事查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EDA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都不用再被大模型误导。三点合起来就是『能长、不重、可信』。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成果看数字。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68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概念卡、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课、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出处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闭环跑通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可信查询就绪。已经打包可分发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自动清个人数据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一个同事在用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部署时我修了两个真实暴露的问题。关键是它能服务两类人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新人学、老员工查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一份投入双用途。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下一步三步走。近期把多文件排课做完整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先在两三个新人加一两个老员工试点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学查两个场景都试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同时补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个域。中期做成内网共享版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大家开浏览器就用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多人共建语料。最终变成团队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EDA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知识沉淀、可信查询、新人培养的标准工具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把个人经验变成能溯源的组织资产。需要点资源支持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主要是试点时间和共享部署投入。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价值三层。新人按计划学随时问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老员工查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EDA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带出处不编造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不用再被大模型误导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团队带新不靠老员工腾时间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查询有可信源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组织把散的手册经验变成能查能信能复用的资产。三个特点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能长、不重、可信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可信是核心。一份投入服务两类人。已经能分发验证过。想请领导支持小范围试点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后面往团队共享平台走。谢谢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欢迎提问。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640080" y="584835"/>
            <a:ext cx="91440" cy="1005840"/>
          </a:xfrm>
          <a:prstGeom prst="rect">
            <a:avLst/>
          </a:prstGeom>
          <a:solidFill>
            <a:srgbClr val="D3394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95985" y="566420"/>
            <a:ext cx="1046988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en-US" altLang="en-US" sz="290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Learn-EDA:</a:t>
            </a:r>
            <a:r>
              <a:rPr lang="zh-CN" altLang="en-US" sz="290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语料锚定的</a:t>
            </a:r>
            <a:r>
              <a:rPr lang="en-US" altLang="zh-CN" sz="290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EDA/STA/RC </a:t>
            </a:r>
            <a:r>
              <a:rPr lang="zh-CN" altLang="en-US" sz="290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学习与知识查询系统</a:t>
            </a:r>
            <a:endParaRPr lang="zh-CN" altLang="en-US" sz="2900" b="1">
              <a:solidFill>
                <a:srgbClr val="2021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95985" y="1663700"/>
            <a:ext cx="996632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130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本地运行</a:t>
            </a:r>
            <a:r>
              <a:rPr lang="en-US" altLang="zh-CN" sz="130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30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知识可溯源</a:t>
            </a:r>
            <a:r>
              <a:rPr lang="en-US" altLang="zh-CN" sz="130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30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进度可追踪</a:t>
            </a:r>
            <a:r>
              <a:rPr lang="en-US" altLang="zh-CN" sz="130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30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可分发共享</a:t>
            </a:r>
            <a:endParaRPr lang="zh-CN" altLang="en-US" sz="1300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822960" y="2303780"/>
            <a:ext cx="10560685" cy="263398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DDDD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078865" y="2523490"/>
            <a:ext cx="1003998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zh-CN" altLang="en-US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两个价值合一</a:t>
            </a:r>
            <a:r>
              <a:rPr lang="en-US" altLang="zh-CN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把散落语料建成学习计划</a:t>
            </a:r>
            <a:r>
              <a:rPr lang="en-US" altLang="zh-CN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用语料锚定大模型</a:t>
            </a:r>
            <a:r>
              <a:rPr lang="en-US" altLang="zh-CN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让查</a:t>
            </a:r>
            <a:r>
              <a:rPr lang="en-US" altLang="zh-CN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EDA </a:t>
            </a:r>
            <a:r>
              <a:rPr lang="zh-CN" altLang="en-US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知识带出处、不编造</a:t>
            </a:r>
            <a:r>
              <a:rPr lang="en-US" altLang="zh-CN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既给新人学</a:t>
            </a:r>
            <a:r>
              <a:rPr lang="en-US" altLang="zh-CN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也给所有后端同事查。</a:t>
            </a:r>
            <a:endParaRPr lang="zh-CN" altLang="en-US" b="1">
              <a:solidFill>
                <a:srgbClr val="D339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1188085" y="3803650"/>
            <a:ext cx="1518285" cy="6584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5575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261745" y="3949700"/>
            <a:ext cx="137160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zh-CN" altLang="en-US" sz="110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</a:rPr>
              <a:t>散落语料</a:t>
            </a:r>
            <a:endParaRPr lang="zh-CN" altLang="en-US" sz="1100" b="1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4479925" y="3803650"/>
            <a:ext cx="1518285" cy="6584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394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553585" y="3949700"/>
            <a:ext cx="137160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en-US" altLang="en-US" sz="110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 sz="110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学习系统</a:t>
            </a:r>
            <a:endParaRPr lang="zh-CN" altLang="en-US" sz="1100" b="1">
              <a:solidFill>
                <a:srgbClr val="D339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7845425" y="3803650"/>
            <a:ext cx="1517650" cy="6584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0B5C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7918450" y="3949700"/>
            <a:ext cx="137160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zh-CN" altLang="en-US" sz="1100" b="1">
                <a:solidFill>
                  <a:srgbClr val="30B5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</a:t>
            </a:r>
            <a:r>
              <a:rPr lang="en-US" altLang="zh-CN" sz="1100" b="1">
                <a:solidFill>
                  <a:srgbClr val="30B5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1100" b="1">
                <a:solidFill>
                  <a:srgbClr val="30B5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带计划</a:t>
            </a:r>
            <a:r>
              <a:rPr lang="en-US" altLang="zh-CN" sz="1100" b="1">
                <a:solidFill>
                  <a:srgbClr val="30B5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sz="1100" b="1">
              <a:solidFill>
                <a:srgbClr val="30B5C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9618980" y="3803650"/>
            <a:ext cx="1518285" cy="6584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2B23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9692640" y="3949700"/>
            <a:ext cx="137160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zh-CN" altLang="en-US" sz="1100" b="1">
                <a:solidFill>
                  <a:srgbClr val="62B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</a:t>
            </a:r>
            <a:r>
              <a:rPr lang="en-US" altLang="zh-CN" sz="1100" b="1">
                <a:solidFill>
                  <a:srgbClr val="62B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1100" b="1">
                <a:solidFill>
                  <a:srgbClr val="62B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带出处</a:t>
            </a:r>
            <a:r>
              <a:rPr lang="en-US" altLang="zh-CN" sz="1100" b="1">
                <a:solidFill>
                  <a:srgbClr val="62B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sz="1100" b="1">
              <a:solidFill>
                <a:srgbClr val="62B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2724785" y="4132580"/>
            <a:ext cx="1536065" cy="635"/>
          </a:xfrm>
          <a:prstGeom prst="line">
            <a:avLst/>
          </a:prstGeom>
          <a:ln w="19050">
            <a:solidFill>
              <a:srgbClr val="D3394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6016625" y="4132580"/>
            <a:ext cx="1609090" cy="635"/>
          </a:xfrm>
          <a:prstGeom prst="line">
            <a:avLst/>
          </a:prstGeom>
          <a:ln w="19050">
            <a:solidFill>
              <a:srgbClr val="D3394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6016625" y="4132580"/>
            <a:ext cx="3382645" cy="635"/>
          </a:xfrm>
          <a:prstGeom prst="line">
            <a:avLst/>
          </a:prstGeom>
          <a:ln w="19050">
            <a:solidFill>
              <a:srgbClr val="D3394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57860" y="274320"/>
            <a:ext cx="1069848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260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四个痛点</a:t>
            </a:r>
            <a:r>
              <a:rPr lang="en-US" altLang="zh-CN" sz="260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260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四个对策</a:t>
            </a:r>
            <a:endParaRPr lang="zh-CN" altLang="en-US" sz="2600" b="1">
              <a:solidFill>
                <a:srgbClr val="2021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57860" y="859155"/>
            <a:ext cx="731520" cy="36830"/>
          </a:xfrm>
          <a:prstGeom prst="rect">
            <a:avLst/>
          </a:prstGeom>
          <a:solidFill>
            <a:srgbClr val="D3394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657860" y="6473825"/>
            <a:ext cx="10881360" cy="635"/>
          </a:xfrm>
          <a:prstGeom prst="line">
            <a:avLst/>
          </a:prstGeom>
          <a:ln w="889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90580" y="6501130"/>
            <a:ext cx="50228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r"/>
            <a:r>
              <a:rPr lang="en-US" altLang="en-US" sz="800" b="1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en-US" sz="800" b="1">
              <a:solidFill>
                <a:srgbClr val="89898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57860" y="1060450"/>
            <a:ext cx="521144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1500" b="1">
                <a:solidFill>
                  <a:srgbClr val="7F000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左表</a:t>
            </a:r>
            <a:r>
              <a:rPr lang="en-US" altLang="zh-CN" sz="1500" b="1">
                <a:solidFill>
                  <a:srgbClr val="7F000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500" b="1">
                <a:solidFill>
                  <a:srgbClr val="7F000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痛点</a:t>
            </a:r>
            <a:endParaRPr lang="zh-CN" altLang="en-US" sz="1500" b="1">
              <a:solidFill>
                <a:srgbClr val="7F000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327140" y="1060450"/>
            <a:ext cx="521144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150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右表</a:t>
            </a:r>
            <a:r>
              <a:rPr lang="en-US" altLang="zh-CN" sz="150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50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</a:t>
            </a:r>
            <a:endParaRPr lang="zh-CN" altLang="en-US" sz="1500" b="1">
              <a:solidFill>
                <a:srgbClr val="D339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57860" y="1480820"/>
            <a:ext cx="5212080" cy="942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67715" y="1609090"/>
            <a:ext cx="36512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zh-CN" altLang="en-US" sz="140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</a:rPr>
              <a:t>①</a:t>
            </a:r>
            <a:endParaRPr lang="zh-CN" altLang="en-US" sz="1400" b="1">
              <a:solidFill>
                <a:srgbClr val="D339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70305" y="1572260"/>
            <a:ext cx="159067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105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</a:rPr>
              <a:t>资料散、不成体系</a:t>
            </a:r>
            <a:endParaRPr lang="zh-CN" altLang="en-US" sz="1050" b="1">
              <a:solidFill>
                <a:srgbClr val="2021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779395" y="1554480"/>
            <a:ext cx="290766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手册</a:t>
            </a:r>
            <a:r>
              <a:rPr lang="en-US" altLang="zh-CN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/PPT/LAB </a:t>
            </a:r>
            <a:r>
              <a:rPr lang="zh-CN" altLang="en-US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散落</a:t>
            </a:r>
            <a:r>
              <a:rPr lang="en-US" altLang="zh-CN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无学习路径</a:t>
            </a:r>
            <a:endParaRPr lang="zh-CN" altLang="en-US" sz="930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327140" y="1480820"/>
            <a:ext cx="5212080" cy="942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436995" y="1609090"/>
            <a:ext cx="36512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zh-CN" altLang="en-US" sz="140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</a:rPr>
              <a:t>①</a:t>
            </a:r>
            <a:endParaRPr lang="zh-CN" altLang="en-US" sz="1400" b="1">
              <a:solidFill>
                <a:srgbClr val="D339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839585" y="1572260"/>
            <a:ext cx="166370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105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语料</a:t>
            </a:r>
            <a:r>
              <a:rPr lang="en-US" altLang="zh-CN" sz="105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zh-CN" altLang="en-US" sz="105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学习计划</a:t>
            </a:r>
            <a:endParaRPr lang="zh-CN" altLang="en-US" sz="1050" b="1">
              <a:solidFill>
                <a:srgbClr val="2021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540115" y="1554480"/>
            <a:ext cx="279781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en-US" altLang="en-US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跨文件抽知识、排成有序</a:t>
            </a:r>
            <a:r>
              <a:rPr lang="en-US" altLang="zh-CN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lesson </a:t>
            </a:r>
            <a:r>
              <a:rPr lang="zh-CN" altLang="en-US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序列</a:t>
            </a:r>
            <a:endParaRPr lang="zh-CN" altLang="en-US" sz="930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5888355" y="1947545"/>
            <a:ext cx="365760" cy="635"/>
          </a:xfrm>
          <a:prstGeom prst="line">
            <a:avLst/>
          </a:prstGeom>
          <a:ln w="12700">
            <a:solidFill>
              <a:srgbClr val="DDDDDD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657860" y="2605405"/>
            <a:ext cx="5212080" cy="942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67715" y="2733675"/>
            <a:ext cx="36512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zh-CN" altLang="en-US" sz="140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</a:rPr>
              <a:t>②</a:t>
            </a:r>
            <a:endParaRPr lang="zh-CN" altLang="en-US" sz="1400" b="1">
              <a:solidFill>
                <a:srgbClr val="D339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170305" y="2696845"/>
            <a:ext cx="159067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105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</a:rPr>
              <a:t>概念难、没人带</a:t>
            </a:r>
            <a:endParaRPr lang="zh-CN" altLang="en-US" sz="1050" b="1">
              <a:solidFill>
                <a:srgbClr val="2021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779395" y="2679065"/>
            <a:ext cx="290766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遇到不懂的没人问</a:t>
            </a:r>
            <a:r>
              <a:rPr lang="en-US" altLang="zh-CN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查文档慢</a:t>
            </a:r>
            <a:endParaRPr lang="zh-CN" altLang="en-US" sz="930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327140" y="2605405"/>
            <a:ext cx="5212080" cy="942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6436995" y="2733675"/>
            <a:ext cx="36512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zh-CN" altLang="en-US" sz="140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</a:rPr>
              <a:t>②</a:t>
            </a:r>
            <a:endParaRPr lang="zh-CN" altLang="en-US" sz="1400" b="1">
              <a:solidFill>
                <a:srgbClr val="D339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839585" y="2696845"/>
            <a:ext cx="166370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en-US" altLang="en-US" sz="105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 sz="105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随时教</a:t>
            </a:r>
            <a:endParaRPr lang="zh-CN" altLang="en-US" sz="1050" b="1">
              <a:solidFill>
                <a:srgbClr val="2021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540115" y="2679065"/>
            <a:ext cx="279781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中文讲</a:t>
            </a:r>
            <a:r>
              <a:rPr lang="en-US" altLang="zh-CN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英文术语</a:t>
            </a:r>
            <a:r>
              <a:rPr lang="en-US" altLang="zh-CN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画图</a:t>
            </a:r>
            <a:r>
              <a:rPr lang="en-US" altLang="zh-CN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逐点确认</a:t>
            </a:r>
            <a:endParaRPr lang="zh-CN" altLang="en-US" sz="930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5888355" y="3072130"/>
            <a:ext cx="365760" cy="635"/>
          </a:xfrm>
          <a:prstGeom prst="line">
            <a:avLst/>
          </a:prstGeom>
          <a:ln w="12700">
            <a:solidFill>
              <a:srgbClr val="DDDDDD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657860" y="3730625"/>
            <a:ext cx="5212080" cy="941705"/>
          </a:xfrm>
          <a:prstGeom prst="rect">
            <a:avLst/>
          </a:prstGeom>
          <a:solidFill>
            <a:srgbClr val="FFF1F2"/>
          </a:solidFill>
          <a:ln w="12700">
            <a:solidFill>
              <a:srgbClr val="D3385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767715" y="3858260"/>
            <a:ext cx="36512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zh-CN" altLang="en-US" sz="1400" b="1">
                <a:solidFill>
                  <a:srgbClr val="D33859"/>
                </a:solidFill>
                <a:latin typeface="微软雅黑" panose="020B0503020204020204" charset="-122"/>
                <a:ea typeface="微软雅黑" panose="020B0503020204020204" charset="-122"/>
              </a:rPr>
              <a:t>③</a:t>
            </a:r>
            <a:endParaRPr lang="zh-CN" altLang="en-US" sz="1400" b="1">
              <a:solidFill>
                <a:srgbClr val="D338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170305" y="3822065"/>
            <a:ext cx="159067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105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大模型编造</a:t>
            </a:r>
            <a:r>
              <a:rPr lang="en-US" altLang="zh-CN" sz="105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105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不敢信</a:t>
            </a:r>
            <a:endParaRPr lang="zh-CN" altLang="en-US" sz="1050" b="1">
              <a:solidFill>
                <a:srgbClr val="2021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2779395" y="3803650"/>
            <a:ext cx="290766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</a:t>
            </a:r>
            <a:r>
              <a:rPr lang="en-US" altLang="zh-CN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EDA </a:t>
            </a:r>
            <a:r>
              <a:rPr lang="zh-CN" altLang="en-US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大模型会编命令</a:t>
            </a:r>
            <a:r>
              <a:rPr lang="en-US" altLang="zh-CN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</a:t>
            </a:r>
            <a:r>
              <a:rPr lang="en-US" altLang="zh-CN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</a:t>
            </a:r>
            <a:endParaRPr lang="zh-CN" altLang="en-US" sz="930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327140" y="3730625"/>
            <a:ext cx="5212080" cy="941705"/>
          </a:xfrm>
          <a:prstGeom prst="rect">
            <a:avLst/>
          </a:prstGeom>
          <a:solidFill>
            <a:srgbClr val="FFF1F2"/>
          </a:solidFill>
          <a:ln w="12700">
            <a:solidFill>
              <a:srgbClr val="D3385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6436995" y="3858260"/>
            <a:ext cx="36512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zh-CN" altLang="en-US" sz="1400" b="1">
                <a:solidFill>
                  <a:srgbClr val="D33859"/>
                </a:solidFill>
                <a:latin typeface="微软雅黑" panose="020B0503020204020204" charset="-122"/>
                <a:ea typeface="微软雅黑" panose="020B0503020204020204" charset="-122"/>
              </a:rPr>
              <a:t>③</a:t>
            </a:r>
            <a:endParaRPr lang="zh-CN" altLang="en-US" sz="1400" b="1">
              <a:solidFill>
                <a:srgbClr val="D338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6839585" y="3822065"/>
            <a:ext cx="166370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105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语料锚定</a:t>
            </a:r>
            <a:r>
              <a:rPr lang="en-US" altLang="zh-CN" sz="105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05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出处可回查</a:t>
            </a:r>
            <a:endParaRPr lang="zh-CN" altLang="en-US" sz="1050" b="1">
              <a:solidFill>
                <a:srgbClr val="2021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540115" y="3803650"/>
            <a:ext cx="279781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讲的知识带</a:t>
            </a:r>
            <a:r>
              <a:rPr lang="en-US" altLang="zh-CN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[</a:t>
            </a:r>
            <a:r>
              <a:rPr lang="zh-CN" altLang="en-US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出处</a:t>
            </a:r>
            <a:r>
              <a:rPr lang="en-US" altLang="zh-CN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:xxx.md </a:t>
            </a:r>
            <a:r>
              <a:rPr lang="zh-CN" altLang="en-US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§小节</a:t>
            </a:r>
            <a:r>
              <a:rPr lang="en-US" altLang="zh-CN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],</a:t>
            </a:r>
            <a:r>
              <a:rPr lang="zh-CN" altLang="en-US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不编造</a:t>
            </a:r>
            <a:endParaRPr lang="zh-CN" altLang="en-US" sz="930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4" name="直接连接符 33"/>
          <p:cNvCxnSpPr/>
          <p:nvPr/>
        </p:nvCxnSpPr>
        <p:spPr>
          <a:xfrm>
            <a:off x="5888355" y="4196715"/>
            <a:ext cx="365760" cy="635"/>
          </a:xfrm>
          <a:prstGeom prst="line">
            <a:avLst/>
          </a:prstGeom>
          <a:ln w="25400">
            <a:solidFill>
              <a:srgbClr val="D33859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657860" y="4855210"/>
            <a:ext cx="5212080" cy="941705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767715" y="4982845"/>
            <a:ext cx="36512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zh-CN" altLang="en-US" sz="140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</a:rPr>
              <a:t>④</a:t>
            </a:r>
            <a:endParaRPr lang="zh-CN" altLang="en-US" sz="1400" b="1">
              <a:solidFill>
                <a:srgbClr val="D339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170305" y="4946650"/>
            <a:ext cx="159067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105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学了忘、查了忘</a:t>
            </a:r>
            <a:r>
              <a:rPr lang="en-US" altLang="zh-CN" sz="105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105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无追踪</a:t>
            </a:r>
            <a:endParaRPr lang="zh-CN" altLang="en-US" sz="1050" b="1">
              <a:solidFill>
                <a:srgbClr val="2021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2779395" y="4928235"/>
            <a:ext cx="290766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</a:t>
            </a:r>
            <a:r>
              <a:rPr lang="en-US" altLang="zh-CN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查完没记录</a:t>
            </a:r>
            <a:r>
              <a:rPr lang="en-US" altLang="zh-CN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重复劳动</a:t>
            </a:r>
            <a:endParaRPr lang="zh-CN" altLang="en-US" sz="930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6327140" y="4855210"/>
            <a:ext cx="5212080" cy="941705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6436995" y="4982845"/>
            <a:ext cx="36512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zh-CN" altLang="en-US" sz="140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</a:rPr>
              <a:t>④</a:t>
            </a:r>
            <a:endParaRPr lang="zh-CN" altLang="en-US" sz="1400" b="1">
              <a:solidFill>
                <a:srgbClr val="D339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6839585" y="4946650"/>
            <a:ext cx="166370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105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</a:rPr>
              <a:t>记进度、留痕迹</a:t>
            </a:r>
            <a:endParaRPr lang="zh-CN" altLang="en-US" sz="1050" b="1">
              <a:solidFill>
                <a:srgbClr val="2021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8540115" y="4928235"/>
            <a:ext cx="279781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掌握度持久化、薄弱点可复习、</a:t>
            </a:r>
            <a:r>
              <a:rPr lang="en-US" altLang="zh-CN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checkpoint </a:t>
            </a:r>
            <a:r>
              <a:rPr lang="zh-CN" altLang="en-US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自测</a:t>
            </a:r>
            <a:endParaRPr lang="zh-CN" altLang="en-US" sz="930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3" name="直接连接符 42"/>
          <p:cNvCxnSpPr/>
          <p:nvPr/>
        </p:nvCxnSpPr>
        <p:spPr>
          <a:xfrm>
            <a:off x="5888355" y="5321300"/>
            <a:ext cx="365760" cy="635"/>
          </a:xfrm>
          <a:prstGeom prst="line">
            <a:avLst/>
          </a:prstGeom>
          <a:ln w="12700">
            <a:solidFill>
              <a:srgbClr val="DDDDDD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57860" y="274320"/>
            <a:ext cx="1069848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260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</a:t>
            </a:r>
            <a:r>
              <a:rPr lang="en-US" altLang="zh-CN" sz="260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sz="260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知识大脑</a:t>
            </a:r>
            <a:r>
              <a:rPr lang="en-US" altLang="zh-CN" sz="260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260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交互外壳</a:t>
            </a:r>
            <a:endParaRPr lang="zh-CN" altLang="en-US" sz="2600" b="1">
              <a:solidFill>
                <a:srgbClr val="2021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57860" y="859155"/>
            <a:ext cx="731520" cy="36830"/>
          </a:xfrm>
          <a:prstGeom prst="rect">
            <a:avLst/>
          </a:prstGeom>
          <a:solidFill>
            <a:srgbClr val="D3394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657860" y="6473825"/>
            <a:ext cx="10881360" cy="635"/>
          </a:xfrm>
          <a:prstGeom prst="line">
            <a:avLst/>
          </a:prstGeom>
          <a:ln w="889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90580" y="6501130"/>
            <a:ext cx="50228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r"/>
            <a:r>
              <a:rPr lang="en-US" altLang="en-US" sz="800" b="1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en-US" sz="800" b="1">
              <a:solidFill>
                <a:srgbClr val="89898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657860" y="1115060"/>
            <a:ext cx="6730365" cy="932815"/>
          </a:xfrm>
          <a:prstGeom prst="roundRect">
            <a:avLst/>
          </a:prstGeom>
          <a:solidFill>
            <a:srgbClr val="FFF8F8"/>
          </a:solidFill>
          <a:ln w="12700">
            <a:solidFill>
              <a:srgbClr val="EFB2B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95985" y="1261745"/>
            <a:ext cx="625411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zh-CN" altLang="en-US" sz="140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交互外壳</a:t>
            </a:r>
            <a:r>
              <a:rPr lang="en-US" altLang="zh-CN" sz="140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(learn-eda-ui,</a:t>
            </a:r>
            <a:r>
              <a:rPr lang="zh-CN" altLang="en-US" sz="140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</a:t>
            </a:r>
            <a:r>
              <a:rPr lang="en-US" altLang="zh-CN" sz="140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Web)</a:t>
            </a:r>
            <a:endParaRPr lang="en-US" altLang="zh-CN" sz="1400" b="1">
              <a:solidFill>
                <a:srgbClr val="D339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95985" y="1609090"/>
            <a:ext cx="625411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zh-CN" altLang="en-US" sz="105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学习看板</a:t>
            </a:r>
            <a:r>
              <a:rPr lang="en-US" altLang="zh-CN" sz="105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05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互动教学</a:t>
            </a:r>
            <a:r>
              <a:rPr lang="en-US" altLang="zh-CN" sz="105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checkpoint · </a:t>
            </a:r>
            <a:r>
              <a:rPr lang="zh-CN" altLang="en-US" sz="105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语料管理</a:t>
            </a:r>
            <a:endParaRPr lang="zh-CN" altLang="en-US" sz="1050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023360" y="2066290"/>
            <a:ext cx="635" cy="401955"/>
          </a:xfrm>
          <a:prstGeom prst="line">
            <a:avLst/>
          </a:prstGeom>
          <a:ln w="19050">
            <a:solidFill>
              <a:srgbClr val="D3394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4187825" y="2139315"/>
            <a:ext cx="301752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850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</a:t>
            </a:r>
            <a:r>
              <a:rPr lang="en-US" altLang="zh-CN" sz="850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850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写回</a:t>
            </a:r>
            <a:r>
              <a:rPr lang="en-US" altLang="zh-CN" sz="850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850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白名单</a:t>
            </a:r>
            <a:r>
              <a:rPr lang="en-US" altLang="zh-CN" sz="850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850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备份</a:t>
            </a:r>
            <a:r>
              <a:rPr lang="en-US" altLang="zh-CN" sz="850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850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原子写</a:t>
            </a:r>
            <a:r>
              <a:rPr lang="en-US" altLang="zh-CN" sz="850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sz="850">
              <a:solidFill>
                <a:srgbClr val="8989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657860" y="2486660"/>
            <a:ext cx="6730365" cy="3347085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DDDD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95985" y="2651760"/>
            <a:ext cx="625411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zh-CN" altLang="en-US" sz="140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知识大脑</a:t>
            </a:r>
            <a:r>
              <a:rPr lang="en-US" altLang="zh-CN" sz="140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(learn-eda skill)</a:t>
            </a:r>
            <a:endParaRPr lang="en-US" altLang="zh-CN" sz="1400" b="1">
              <a:solidFill>
                <a:srgbClr val="2021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895985" y="3072130"/>
            <a:ext cx="2834640" cy="115189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394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042035" y="3190875"/>
            <a:ext cx="118808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en-US" altLang="en-US" sz="105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</a:rPr>
              <a:t>SKILL.md</a:t>
            </a:r>
            <a:endParaRPr lang="en-US" altLang="en-US" sz="1050" b="1">
              <a:solidFill>
                <a:srgbClr val="D339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249170" y="3181985"/>
            <a:ext cx="129794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en-US" altLang="en-US" sz="90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90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编排器</a:t>
            </a:r>
            <a:r>
              <a:rPr lang="en-US" altLang="zh-CN" sz="90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90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</a:t>
            </a:r>
            <a:r>
              <a:rPr lang="en-US" altLang="zh-CN" sz="90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
</a:t>
            </a:r>
            <a:r>
              <a:rPr lang="zh-CN" altLang="en-US" sz="90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只含规则</a:t>
            </a:r>
            <a:r>
              <a:rPr lang="en-US" altLang="zh-CN" sz="90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90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不含知识</a:t>
            </a:r>
            <a:endParaRPr lang="zh-CN" altLang="en-US" sz="900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4096385" y="3072130"/>
            <a:ext cx="2834640" cy="115189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0B5C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4242435" y="3190875"/>
            <a:ext cx="118808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en-US" altLang="en-US" sz="1050" b="1">
                <a:solidFill>
                  <a:srgbClr val="30B5C5"/>
                </a:solidFill>
                <a:latin typeface="微软雅黑" panose="020B0503020204020204" charset="-122"/>
                <a:ea typeface="微软雅黑" panose="020B0503020204020204" charset="-122"/>
              </a:rPr>
              <a:t>knowledge/
concepts/</a:t>
            </a:r>
            <a:endParaRPr lang="en-US" altLang="en-US" sz="1050" b="1">
              <a:solidFill>
                <a:srgbClr val="30B5C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449570" y="3181985"/>
            <a:ext cx="129794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en-US" altLang="en-US" sz="90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sta/ 39</a:t>
            </a:r>
            <a:r>
              <a:rPr lang="zh-CN" altLang="en-US" sz="90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卡</a:t>
            </a:r>
            <a:r>
              <a:rPr lang="en-US" altLang="zh-CN" sz="90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rc/ 25</a:t>
            </a:r>
            <a:r>
              <a:rPr lang="zh-CN" altLang="en-US" sz="90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卡</a:t>
            </a:r>
            <a:r>
              <a:rPr lang="en-US" altLang="zh-CN" sz="90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interface/4</a:t>
            </a:r>
            <a:endParaRPr lang="en-US" altLang="zh-CN" sz="900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895985" y="4498340"/>
            <a:ext cx="2834640" cy="11525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6D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042035" y="4617720"/>
            <a:ext cx="118808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en-US" altLang="en-US" sz="1050" b="1">
                <a:solidFill>
                  <a:srgbClr val="ED6D00"/>
                </a:solidFill>
                <a:latin typeface="微软雅黑" panose="020B0503020204020204" charset="-122"/>
                <a:ea typeface="微软雅黑" panose="020B0503020204020204" charset="-122"/>
              </a:rPr>
              <a:t>curriculum/</a:t>
            </a:r>
            <a:endParaRPr lang="en-US" altLang="en-US" sz="1050" b="1">
              <a:solidFill>
                <a:srgbClr val="ED6D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249170" y="4608195"/>
            <a:ext cx="129794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en-US" altLang="en-US" sz="90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 </a:t>
            </a:r>
            <a:r>
              <a:rPr lang="zh-CN" altLang="en-US" sz="90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节课程</a:t>
            </a:r>
            <a:endParaRPr lang="zh-CN" altLang="en-US" sz="900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4096385" y="4498340"/>
            <a:ext cx="2834640" cy="11525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2B23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4242435" y="4617720"/>
            <a:ext cx="118808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en-US" altLang="en-US" sz="1050" b="1">
                <a:solidFill>
                  <a:srgbClr val="62B230"/>
                </a:solidFill>
                <a:latin typeface="微软雅黑" panose="020B0503020204020204" charset="-122"/>
                <a:ea typeface="微软雅黑" panose="020B0503020204020204" charset="-122"/>
              </a:rPr>
              <a:t>learner/</a:t>
            </a:r>
            <a:endParaRPr lang="en-US" altLang="en-US" sz="1050" b="1">
              <a:solidFill>
                <a:srgbClr val="62B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449570" y="4608195"/>
            <a:ext cx="129794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en-US" altLang="en-US" sz="90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</a:rPr>
              <a:t>mastery.yaml</a:t>
            </a:r>
            <a:endParaRPr lang="en-US" altLang="en-US" sz="900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95985" y="5622925"/>
            <a:ext cx="625411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en-US" altLang="en-US" sz="850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sources/ 24</a:t>
            </a:r>
            <a:r>
              <a:rPr lang="zh-CN" altLang="en-US" sz="850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出处</a:t>
            </a:r>
            <a:r>
              <a:rPr lang="en-US" altLang="zh-CN" sz="850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outline/</a:t>
            </a:r>
            <a:r>
              <a:rPr lang="zh-CN" altLang="en-US" sz="850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术语表</a:t>
            </a:r>
            <a:r>
              <a:rPr lang="en-US" altLang="zh-CN" sz="850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eval/</a:t>
            </a:r>
            <a:endParaRPr lang="en-US" altLang="zh-CN" sz="850">
              <a:solidFill>
                <a:srgbClr val="8989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735570" y="1115060"/>
            <a:ext cx="358394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150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</a:rPr>
              <a:t>要点</a:t>
            </a:r>
            <a:endParaRPr lang="zh-CN" altLang="en-US" sz="1500" b="1">
              <a:solidFill>
                <a:srgbClr val="D339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753985" y="1554480"/>
            <a:ext cx="38354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en-US" altLang="en-US" sz="120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altLang="en-US" sz="1200" b="1">
              <a:solidFill>
                <a:srgbClr val="D339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192770" y="1517650"/>
            <a:ext cx="316357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93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知识与规则分离</a:t>
            </a:r>
            <a:r>
              <a:rPr lang="en-US" altLang="zh-CN" sz="93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:SKILL.md </a:t>
            </a:r>
            <a:r>
              <a:rPr lang="zh-CN" altLang="en-US" sz="93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只放教学规则</a:t>
            </a:r>
            <a:r>
              <a:rPr lang="en-US" altLang="zh-CN" sz="93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93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知识按域分文件</a:t>
            </a:r>
            <a:r>
              <a:rPr lang="en-US" altLang="zh-CN" sz="93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93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加语料是加文件</a:t>
            </a:r>
            <a:r>
              <a:rPr lang="en-US" altLang="zh-CN" sz="93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93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不是撑大单文件</a:t>
            </a:r>
            <a:r>
              <a:rPr lang="en-US" altLang="zh-CN" sz="93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93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优化②</a:t>
            </a:r>
            <a:r>
              <a:rPr lang="en-US" altLang="zh-CN" sz="93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sz="930" b="1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753985" y="2596515"/>
            <a:ext cx="38354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en-US" altLang="en-US" sz="120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en-US" sz="1200" b="1">
              <a:solidFill>
                <a:srgbClr val="D339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8192770" y="2560320"/>
            <a:ext cx="316357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语料锚定</a:t>
            </a:r>
            <a:r>
              <a:rPr lang="en-US" altLang="zh-CN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每条概念卡带</a:t>
            </a:r>
            <a:r>
              <a:rPr lang="en-US" altLang="zh-CN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source </a:t>
            </a:r>
            <a:r>
              <a:rPr lang="zh-CN" altLang="en-US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出处登记</a:t>
            </a:r>
            <a:r>
              <a:rPr lang="en-US" altLang="zh-CN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查询</a:t>
            </a:r>
            <a:r>
              <a:rPr lang="en-US" altLang="zh-CN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教学时</a:t>
            </a:r>
            <a:r>
              <a:rPr lang="en-US" altLang="zh-CN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LLM </a:t>
            </a:r>
            <a:r>
              <a:rPr lang="zh-CN" altLang="en-US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基于这些带出处的知识回答</a:t>
            </a:r>
            <a:r>
              <a:rPr lang="en-US" altLang="zh-CN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优化③</a:t>
            </a:r>
            <a:r>
              <a:rPr lang="en-US" altLang="zh-CN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sz="930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753985" y="3639185"/>
            <a:ext cx="38354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en-US" altLang="en-US" sz="120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en-US" sz="1200" b="1">
              <a:solidFill>
                <a:srgbClr val="D339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192770" y="3602355"/>
            <a:ext cx="316357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安全写</a:t>
            </a:r>
            <a:r>
              <a:rPr lang="en-US" altLang="zh-CN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</a:t>
            </a:r>
            <a:r>
              <a:rPr lang="en-US" altLang="zh-CN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skill </a:t>
            </a:r>
            <a:r>
              <a:rPr lang="zh-CN" altLang="en-US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走白名单</a:t>
            </a:r>
            <a:r>
              <a:rPr lang="en-US" altLang="zh-CN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写前备份</a:t>
            </a:r>
            <a:r>
              <a:rPr lang="en-US" altLang="zh-CN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原子写</a:t>
            </a:r>
            <a:r>
              <a:rPr lang="en-US" altLang="zh-CN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一键回滚</a:t>
            </a:r>
            <a:r>
              <a:rPr lang="en-US" altLang="zh-CN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尝试不破坏现有知识</a:t>
            </a:r>
            <a:endParaRPr lang="zh-CN" altLang="en-US" sz="930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753985" y="4681220"/>
            <a:ext cx="38354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en-US" altLang="en-US" sz="120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altLang="en-US" sz="1200" b="1">
              <a:solidFill>
                <a:srgbClr val="D339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8192770" y="4645025"/>
            <a:ext cx="316357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两层可独立分发</a:t>
            </a:r>
            <a:r>
              <a:rPr lang="en-US" altLang="zh-CN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:skill </a:t>
            </a:r>
            <a:r>
              <a:rPr lang="zh-CN" altLang="en-US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</a:t>
            </a:r>
            <a:r>
              <a:rPr lang="en-US" altLang="zh-CN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Claude Code </a:t>
            </a:r>
            <a:r>
              <a:rPr lang="zh-CN" altLang="en-US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</a:t>
            </a:r>
            <a:r>
              <a:rPr lang="en-US" altLang="zh-CN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,UI </a:t>
            </a:r>
            <a:r>
              <a:rPr lang="zh-CN" altLang="en-US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给普通同事</a:t>
            </a:r>
            <a:endParaRPr lang="zh-CN" altLang="en-US" sz="930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57860" y="274320"/>
            <a:ext cx="1069848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260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核心功能</a:t>
            </a:r>
            <a:r>
              <a:rPr lang="en-US" altLang="zh-CN" sz="260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260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</a:t>
            </a:r>
            <a:r>
              <a:rPr lang="en-US" altLang="zh-CN" sz="260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):</a:t>
            </a:r>
            <a:r>
              <a:rPr lang="zh-CN" altLang="en-US" sz="260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学习侧</a:t>
            </a:r>
            <a:endParaRPr lang="zh-CN" altLang="en-US" sz="2600" b="1">
              <a:solidFill>
                <a:srgbClr val="2021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57860" y="859155"/>
            <a:ext cx="731520" cy="36830"/>
          </a:xfrm>
          <a:prstGeom prst="rect">
            <a:avLst/>
          </a:prstGeom>
          <a:solidFill>
            <a:srgbClr val="D3394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657860" y="6473825"/>
            <a:ext cx="10881360" cy="635"/>
          </a:xfrm>
          <a:prstGeom prst="line">
            <a:avLst/>
          </a:prstGeom>
          <a:ln w="889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90580" y="6501130"/>
            <a:ext cx="50228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r"/>
            <a:r>
              <a:rPr lang="en-US" altLang="en-US" sz="800" b="1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altLang="en-US" sz="800" b="1">
              <a:solidFill>
                <a:srgbClr val="89898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657860" y="1133475"/>
            <a:ext cx="5742940" cy="87820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40740" y="1216025"/>
            <a:ext cx="537654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en-US" altLang="en-US" sz="104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04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学习看板</a:t>
            </a:r>
            <a:r>
              <a:rPr lang="en-US" altLang="zh-CN" sz="104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sz="104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大纲树</a:t>
            </a:r>
            <a:r>
              <a:rPr lang="en-US" altLang="zh-CN" sz="104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04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课程进度</a:t>
            </a:r>
            <a:r>
              <a:rPr lang="en-US" altLang="zh-CN" sz="104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04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掌握度可视化</a:t>
            </a:r>
            <a:r>
              <a:rPr lang="en-US" altLang="zh-CN" sz="104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r>
              <a:rPr lang="zh-CN" altLang="en-US" sz="104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点章节直接跳教学</a:t>
            </a:r>
            <a:endParaRPr lang="zh-CN" altLang="en-US" sz="1040" b="1">
              <a:solidFill>
                <a:srgbClr val="2021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657860" y="2203450"/>
            <a:ext cx="5742940" cy="87757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40740" y="2286000"/>
            <a:ext cx="537654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en-US" altLang="en-US" sz="104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</a:t>
            </a:r>
            <a:r>
              <a:rPr lang="zh-CN" altLang="en-US" sz="104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互动教学</a:t>
            </a:r>
            <a:r>
              <a:rPr lang="en-US" altLang="zh-CN" sz="104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sz="104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流式回答</a:t>
            </a:r>
            <a:r>
              <a:rPr lang="en-US" altLang="zh-CN" sz="104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04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可折叠思考过程</a:t>
            </a:r>
            <a:r>
              <a:rPr lang="en-US" altLang="zh-CN" sz="104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04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三模式</a:t>
            </a:r>
            <a:r>
              <a:rPr lang="en-US" altLang="zh-CN" sz="104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104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学新课</a:t>
            </a:r>
            <a:r>
              <a:rPr lang="en-US" altLang="zh-CN" sz="104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04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复习</a:t>
            </a:r>
            <a:r>
              <a:rPr lang="en-US" altLang="zh-CN" sz="104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04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自由探索</a:t>
            </a:r>
            <a:r>
              <a:rPr lang="en-US" altLang="zh-CN" sz="104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)+ </a:t>
            </a:r>
            <a:r>
              <a:rPr lang="zh-CN" altLang="en-US" sz="104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详细度自动判断</a:t>
            </a:r>
            <a:endParaRPr lang="zh-CN" altLang="en-US" sz="1040" b="1">
              <a:solidFill>
                <a:srgbClr val="2021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657860" y="3273425"/>
            <a:ext cx="5742940" cy="87757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40740" y="3355340"/>
            <a:ext cx="537654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en-US" altLang="en-US" sz="104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checkpoint </a:t>
            </a:r>
            <a:r>
              <a:rPr lang="zh-CN" altLang="en-US" sz="104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自测</a:t>
            </a:r>
            <a:r>
              <a:rPr lang="en-US" altLang="zh-CN" sz="104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sz="104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讲完出题</a:t>
            </a:r>
            <a:r>
              <a:rPr lang="en-US" altLang="zh-CN" sz="104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,LLM </a:t>
            </a:r>
            <a:r>
              <a:rPr lang="zh-CN" altLang="en-US" sz="104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判定对错</a:t>
            </a:r>
            <a:r>
              <a:rPr lang="en-US" altLang="zh-CN" sz="104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104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确定性更新掌握度</a:t>
            </a:r>
            <a:r>
              <a:rPr lang="en-US" altLang="zh-CN" sz="104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104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带备份可回滚</a:t>
            </a:r>
            <a:r>
              <a:rPr lang="en-US" altLang="zh-CN" sz="104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sz="1040" b="1">
              <a:solidFill>
                <a:srgbClr val="2021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657860" y="4343400"/>
            <a:ext cx="5742940" cy="87757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840740" y="4425315"/>
            <a:ext cx="537654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en-US" altLang="en-US" sz="104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</a:t>
            </a:r>
            <a:r>
              <a:rPr lang="zh-CN" altLang="en-US" sz="104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多轮对话不重讲</a:t>
            </a:r>
            <a:r>
              <a:rPr lang="en-US" altLang="zh-CN" sz="104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sz="104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连说「继续」接着往下讲</a:t>
            </a:r>
            <a:r>
              <a:rPr lang="en-US" altLang="zh-CN" sz="104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104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不从头来</a:t>
            </a:r>
            <a:endParaRPr lang="zh-CN" altLang="en-US" sz="1040" b="1">
              <a:solidFill>
                <a:srgbClr val="2021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6692900" y="1133475"/>
            <a:ext cx="4846320" cy="4224655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DDDD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6985635" y="1444625"/>
            <a:ext cx="4261485" cy="76771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B2B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7150100" y="1617980"/>
            <a:ext cx="393192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zh-CN" altLang="en-US" sz="100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截图</a:t>
            </a:r>
            <a:r>
              <a:rPr lang="en-US" altLang="zh-CN" sz="100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sz="100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看板页</a:t>
            </a:r>
            <a:r>
              <a:rPr lang="en-US" altLang="zh-CN" sz="100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100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进度色块</a:t>
            </a:r>
            <a:r>
              <a:rPr lang="en-US" altLang="zh-CN" sz="100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sz="1000" b="1">
              <a:solidFill>
                <a:srgbClr val="D339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6985635" y="2432050"/>
            <a:ext cx="4261485" cy="7683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B2B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150100" y="2605405"/>
            <a:ext cx="393192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zh-CN" altLang="en-US" sz="100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截图</a:t>
            </a:r>
            <a:r>
              <a:rPr lang="en-US" altLang="zh-CN" sz="100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sz="100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教学页</a:t>
            </a:r>
            <a:r>
              <a:rPr lang="en-US" altLang="zh-CN" sz="100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100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对话流</a:t>
            </a:r>
            <a:r>
              <a:rPr lang="en-US" altLang="zh-CN" sz="100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00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思考块</a:t>
            </a:r>
            <a:r>
              <a:rPr lang="en-US" altLang="zh-CN" sz="100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sz="1000" b="1">
              <a:solidFill>
                <a:srgbClr val="D339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6985635" y="3419475"/>
            <a:ext cx="4261485" cy="7683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B2B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150100" y="3593465"/>
            <a:ext cx="393192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zh-CN" altLang="en-US" sz="100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截图</a:t>
            </a:r>
            <a:r>
              <a:rPr lang="en-US" altLang="zh-CN" sz="100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:checkpoint </a:t>
            </a:r>
            <a:r>
              <a:rPr lang="zh-CN" altLang="en-US" sz="100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答题卡片</a:t>
            </a:r>
            <a:r>
              <a:rPr lang="en-US" altLang="zh-CN" sz="100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00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判定结果</a:t>
            </a:r>
            <a:endParaRPr lang="zh-CN" altLang="en-US" sz="1000" b="1">
              <a:solidFill>
                <a:srgbClr val="D339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985635" y="4498340"/>
            <a:ext cx="4260850" cy="368300"/>
          </a:xfrm>
          <a:prstGeom prst="rect">
            <a:avLst/>
          </a:prstGeom>
          <a:solidFill>
            <a:srgbClr val="FFF8F8"/>
          </a:solidFill>
          <a:ln>
            <a:solidFill>
              <a:srgbClr val="EFB2B8"/>
            </a:solidFill>
          </a:ln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92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🎯</a:t>
            </a:r>
            <a:r>
              <a:rPr lang="en-US" altLang="zh-CN" sz="92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92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前端演示</a:t>
            </a:r>
            <a:r>
              <a:rPr lang="en-US" altLang="zh-CN" sz="92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92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现场或录屏</a:t>
            </a:r>
            <a:r>
              <a:rPr lang="en-US" altLang="zh-CN" sz="92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): </a:t>
            </a:r>
            <a:r>
              <a:rPr lang="zh-CN" altLang="en-US" sz="92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看板点章节</a:t>
            </a:r>
            <a:r>
              <a:rPr lang="en-US" altLang="zh-CN" sz="92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92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跳教学</a:t>
            </a:r>
            <a:r>
              <a:rPr lang="en-US" altLang="zh-CN" sz="92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92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流式回答</a:t>
            </a:r>
            <a:r>
              <a:rPr lang="en-US" altLang="zh-CN" sz="92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checkpoint </a:t>
            </a:r>
            <a:r>
              <a:rPr lang="zh-CN" altLang="en-US" sz="92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自测</a:t>
            </a:r>
            <a:r>
              <a:rPr lang="en-US" altLang="zh-CN" sz="92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92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掌握度更新</a:t>
            </a:r>
            <a:endParaRPr lang="zh-CN" altLang="en-US" sz="920" b="1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57860" y="274320"/>
            <a:ext cx="1069848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260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核心功能</a:t>
            </a:r>
            <a:r>
              <a:rPr lang="en-US" altLang="zh-CN" sz="260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260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</a:t>
            </a:r>
            <a:r>
              <a:rPr lang="en-US" altLang="zh-CN" sz="260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):</a:t>
            </a:r>
            <a:r>
              <a:rPr lang="zh-CN" altLang="en-US" sz="260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查询侧</a:t>
            </a:r>
            <a:r>
              <a:rPr lang="en-US" altLang="zh-CN" sz="260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260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知识沉淀</a:t>
            </a:r>
            <a:endParaRPr lang="zh-CN" altLang="en-US" sz="2600" b="1">
              <a:solidFill>
                <a:srgbClr val="2021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57860" y="859155"/>
            <a:ext cx="731520" cy="36830"/>
          </a:xfrm>
          <a:prstGeom prst="rect">
            <a:avLst/>
          </a:prstGeom>
          <a:solidFill>
            <a:srgbClr val="D3394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657860" y="6473825"/>
            <a:ext cx="10881360" cy="635"/>
          </a:xfrm>
          <a:prstGeom prst="line">
            <a:avLst/>
          </a:prstGeom>
          <a:ln w="889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90580" y="6501130"/>
            <a:ext cx="50228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r"/>
            <a:r>
              <a:rPr lang="en-US" altLang="en-US" sz="800" b="1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altLang="en-US" sz="800" b="1">
              <a:solidFill>
                <a:srgbClr val="89898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657860" y="1170305"/>
            <a:ext cx="5870575" cy="104203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59155" y="1280160"/>
            <a:ext cx="546798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en-US" altLang="en-US" sz="103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03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语料闭环</a:t>
            </a:r>
            <a:r>
              <a:rPr lang="en-US" altLang="zh-CN" sz="103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sz="103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上传语料</a:t>
            </a:r>
            <a:r>
              <a:rPr lang="en-US" altLang="zh-CN" sz="103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AI </a:t>
            </a:r>
            <a:r>
              <a:rPr lang="zh-CN" altLang="en-US" sz="103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抽知识</a:t>
            </a:r>
            <a:r>
              <a:rPr lang="en-US" altLang="zh-CN" sz="103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G1-G7 </a:t>
            </a:r>
            <a:r>
              <a:rPr lang="zh-CN" altLang="en-US" sz="103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门禁审核</a:t>
            </a:r>
            <a:r>
              <a:rPr lang="en-US" altLang="zh-CN" sz="103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03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沉淀进知识库</a:t>
            </a:r>
            <a:endParaRPr lang="zh-CN" altLang="en-US" sz="1030" b="1">
              <a:solidFill>
                <a:srgbClr val="2021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657860" y="2468245"/>
            <a:ext cx="5870575" cy="104267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385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59155" y="2578100"/>
            <a:ext cx="546798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en-US" altLang="en-US" sz="103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</a:t>
            </a:r>
            <a:r>
              <a:rPr lang="zh-CN" altLang="en-US" sz="103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可信查询</a:t>
            </a:r>
            <a:r>
              <a:rPr lang="en-US" altLang="zh-CN" sz="103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sz="103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查询时只基于已登记语料回答</a:t>
            </a:r>
            <a:r>
              <a:rPr lang="en-US" altLang="zh-CN" sz="103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103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</a:t>
            </a:r>
            <a:r>
              <a:rPr lang="en-US" altLang="zh-CN" sz="103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[</a:t>
            </a:r>
            <a:r>
              <a:rPr lang="zh-CN" altLang="en-US" sz="103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出处</a:t>
            </a:r>
            <a:r>
              <a:rPr lang="en-US" altLang="zh-CN" sz="103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:xxx.md </a:t>
            </a:r>
            <a:r>
              <a:rPr lang="zh-CN" altLang="en-US" sz="103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§小节</a:t>
            </a:r>
            <a:r>
              <a:rPr lang="en-US" altLang="zh-CN" sz="103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],</a:t>
            </a:r>
            <a:r>
              <a:rPr lang="zh-CN" altLang="en-US" sz="103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没覆盖的明说「语料未覆盖」</a:t>
            </a:r>
            <a:endParaRPr lang="zh-CN" altLang="en-US" sz="1030" b="1">
              <a:solidFill>
                <a:srgbClr val="2021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657860" y="3766820"/>
            <a:ext cx="5870575" cy="104267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59155" y="3876675"/>
            <a:ext cx="546798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en-US" altLang="en-US" sz="103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</a:t>
            </a:r>
            <a:r>
              <a:rPr lang="zh-CN" altLang="en-US" sz="103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多文件成体系教学</a:t>
            </a:r>
            <a:r>
              <a:rPr lang="en-US" altLang="zh-CN" sz="103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sz="103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多份语料</a:t>
            </a:r>
            <a:r>
              <a:rPr lang="en-US" altLang="zh-CN" sz="103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AI </a:t>
            </a:r>
            <a:r>
              <a:rPr lang="zh-CN" altLang="en-US" sz="103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跨文件排成</a:t>
            </a:r>
            <a:r>
              <a:rPr lang="en-US" altLang="zh-CN" sz="103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lesson </a:t>
            </a:r>
            <a:r>
              <a:rPr lang="zh-CN" altLang="en-US" sz="103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序列〔需核实实现状态〕</a:t>
            </a:r>
            <a:endParaRPr lang="zh-CN" altLang="en-US" sz="1030" b="1">
              <a:solidFill>
                <a:srgbClr val="2021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6821170" y="1170305"/>
            <a:ext cx="4718050" cy="429768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DDDD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7095490" y="1462405"/>
            <a:ext cx="4169410" cy="8413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B2B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7259955" y="1627505"/>
            <a:ext cx="383984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zh-CN" altLang="en-US" sz="98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截图</a:t>
            </a:r>
            <a:r>
              <a:rPr lang="en-US" altLang="zh-CN" sz="98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sz="98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语料页</a:t>
            </a:r>
            <a:r>
              <a:rPr lang="en-US" altLang="zh-CN" sz="98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promotion gate </a:t>
            </a:r>
            <a:r>
              <a:rPr lang="zh-CN" altLang="en-US" sz="98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状态网格</a:t>
            </a:r>
            <a:endParaRPr lang="zh-CN" altLang="en-US" sz="980" b="1">
              <a:solidFill>
                <a:srgbClr val="D339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7095490" y="2560320"/>
            <a:ext cx="4169410" cy="8407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B2B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7259955" y="2724785"/>
            <a:ext cx="383984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zh-CN" altLang="en-US" sz="98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截图</a:t>
            </a:r>
            <a:r>
              <a:rPr lang="en-US" altLang="zh-CN" sz="98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sz="98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一段带出处标注的回答</a:t>
            </a:r>
            <a:r>
              <a:rPr lang="en-US" altLang="zh-CN" sz="98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98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高亮出处行</a:t>
            </a:r>
            <a:r>
              <a:rPr lang="en-US" altLang="zh-CN" sz="98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sz="980" b="1">
              <a:solidFill>
                <a:srgbClr val="D339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7095490" y="3657600"/>
            <a:ext cx="4169410" cy="8407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B2B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259955" y="3822065"/>
            <a:ext cx="383984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zh-CN" altLang="en-US" sz="98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截图</a:t>
            </a:r>
            <a:r>
              <a:rPr lang="en-US" altLang="zh-CN" sz="98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sz="98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课程草案面板</a:t>
            </a:r>
            <a:r>
              <a:rPr lang="en-US" altLang="zh-CN" sz="98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98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若有</a:t>
            </a:r>
            <a:r>
              <a:rPr lang="en-US" altLang="zh-CN" sz="98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sz="980" b="1">
              <a:solidFill>
                <a:srgbClr val="D339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49300" y="5358130"/>
            <a:ext cx="10698480" cy="368300"/>
          </a:xfrm>
          <a:prstGeom prst="rect">
            <a:avLst/>
          </a:prstGeom>
          <a:solidFill>
            <a:srgbClr val="FFF8F8"/>
          </a:solidFill>
          <a:ln>
            <a:solidFill>
              <a:srgbClr val="EFB2B8"/>
            </a:solidFill>
          </a:ln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zh-CN" altLang="en-US" sz="102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🎯</a:t>
            </a:r>
            <a:r>
              <a:rPr lang="en-US" altLang="zh-CN" sz="102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02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前端演示</a:t>
            </a:r>
            <a:r>
              <a:rPr lang="en-US" altLang="zh-CN" sz="102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102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现场或录屏</a:t>
            </a:r>
            <a:r>
              <a:rPr lang="en-US" altLang="zh-CN" sz="102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): </a:t>
            </a:r>
            <a:r>
              <a:rPr lang="zh-CN" altLang="en-US" sz="102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上传一份语料</a:t>
            </a:r>
            <a:r>
              <a:rPr lang="en-US" altLang="zh-CN" sz="102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02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抽知识</a:t>
            </a:r>
            <a:r>
              <a:rPr lang="en-US" altLang="zh-CN" sz="102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02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看出处标注</a:t>
            </a:r>
            <a:r>
              <a:rPr lang="en-US" altLang="zh-CN" sz="102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02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查一个</a:t>
            </a:r>
            <a:r>
              <a:rPr lang="en-US" altLang="zh-CN" sz="102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EDA </a:t>
            </a:r>
            <a:r>
              <a:rPr lang="zh-CN" altLang="en-US" sz="102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问题看带出处的回答</a:t>
            </a:r>
            <a:endParaRPr lang="zh-CN" altLang="en-US" sz="1020" b="1">
              <a:solidFill>
                <a:srgbClr val="D339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57860" y="274320"/>
            <a:ext cx="1069848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260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</a:rPr>
              <a:t>三个关键技术优化</a:t>
            </a:r>
            <a:endParaRPr lang="zh-CN" altLang="en-US" sz="2600" b="1">
              <a:solidFill>
                <a:srgbClr val="2021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57860" y="859155"/>
            <a:ext cx="731520" cy="36830"/>
          </a:xfrm>
          <a:prstGeom prst="rect">
            <a:avLst/>
          </a:prstGeom>
          <a:solidFill>
            <a:srgbClr val="D3394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657860" y="6473825"/>
            <a:ext cx="10881360" cy="635"/>
          </a:xfrm>
          <a:prstGeom prst="line">
            <a:avLst/>
          </a:prstGeom>
          <a:ln w="889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90580" y="6501130"/>
            <a:ext cx="50228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r"/>
            <a:r>
              <a:rPr lang="en-US" altLang="en-US" sz="800" b="1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lang="en-US" altLang="en-US" sz="800" b="1">
              <a:solidFill>
                <a:srgbClr val="89898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887460" y="959485"/>
            <a:ext cx="261493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r"/>
            <a:r>
              <a:rPr lang="zh-CN" altLang="en-US" sz="900" b="1">
                <a:solidFill>
                  <a:srgbClr val="7F000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⚠️</a:t>
            </a:r>
            <a:r>
              <a:rPr lang="en-US" altLang="zh-CN" sz="900" b="1">
                <a:solidFill>
                  <a:srgbClr val="7F000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900" b="1">
                <a:solidFill>
                  <a:srgbClr val="7F000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900" b="1">
                <a:solidFill>
                  <a:srgbClr val="7F000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 </a:t>
            </a:r>
            <a:r>
              <a:rPr lang="zh-CN" altLang="en-US" sz="900" b="1">
                <a:solidFill>
                  <a:srgbClr val="7F000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点实现状态请核实</a:t>
            </a:r>
            <a:endParaRPr lang="zh-CN" altLang="en-US" sz="900" b="1">
              <a:solidFill>
                <a:srgbClr val="7F000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657860" y="1280160"/>
            <a:ext cx="3456940" cy="473646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57860" y="1280160"/>
            <a:ext cx="3456940" cy="73025"/>
          </a:xfrm>
          <a:prstGeom prst="rect">
            <a:avLst/>
          </a:prstGeom>
          <a:solidFill>
            <a:srgbClr val="D3394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40740" y="1536065"/>
            <a:ext cx="309054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112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</a:t>
            </a:r>
            <a:r>
              <a:rPr lang="en-US" altLang="zh-CN" sz="112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12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语料</a:t>
            </a:r>
            <a:r>
              <a:rPr lang="en-US" altLang="zh-CN" sz="112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12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学习计划</a:t>
            </a:r>
            <a:r>
              <a:rPr lang="en-US" altLang="zh-CN" sz="112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sz="112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多文件成体系教学</a:t>
            </a:r>
            <a:r>
              <a:rPr lang="en-US" altLang="zh-CN" sz="112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12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〔需核实实现状态〕</a:t>
            </a:r>
            <a:endParaRPr lang="zh-CN" altLang="en-US" sz="1120" b="1">
              <a:solidFill>
                <a:srgbClr val="2021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40740" y="2395220"/>
            <a:ext cx="309054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r>
              <a:rPr lang="en-US" altLang="zh-CN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多份工作语料</a:t>
            </a:r>
            <a:r>
              <a:rPr lang="en-US" altLang="zh-CN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(RC/STA),</a:t>
            </a:r>
            <a:r>
              <a:rPr lang="zh-CN" altLang="en-US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单文件抽只得到零散原子</a:t>
            </a:r>
            <a:r>
              <a:rPr lang="en-US" altLang="zh-CN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无编排、无法按序教</a:t>
            </a:r>
            <a:endParaRPr lang="zh-CN" altLang="en-US" sz="930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40740" y="3255010"/>
            <a:ext cx="309054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91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解法</a:t>
            </a:r>
            <a:r>
              <a:rPr lang="en-US" altLang="zh-CN" sz="91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sz="91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分文件抽</a:t>
            </a:r>
            <a:r>
              <a:rPr lang="en-US" altLang="zh-CN" sz="91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claim → </a:t>
            </a:r>
            <a:r>
              <a:rPr lang="zh-CN" altLang="en-US" sz="91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跨文件汇总去重关联</a:t>
            </a:r>
            <a:r>
              <a:rPr lang="en-US" altLang="zh-CN" sz="91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AI </a:t>
            </a:r>
            <a:r>
              <a:rPr lang="zh-CN" altLang="en-US" sz="91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</a:t>
            </a:r>
            <a:r>
              <a:rPr lang="en-US" altLang="zh-CN" sz="91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lesson </a:t>
            </a:r>
            <a:r>
              <a:rPr lang="zh-CN" altLang="en-US" sz="91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序列</a:t>
            </a:r>
            <a:r>
              <a:rPr lang="en-US" altLang="zh-CN" sz="91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91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写入</a:t>
            </a:r>
            <a:r>
              <a:rPr lang="en-US" altLang="zh-CN" sz="91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curriculum;</a:t>
            </a:r>
            <a:r>
              <a:rPr lang="zh-CN" altLang="en-US" sz="91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带「</a:t>
            </a:r>
            <a:r>
              <a:rPr lang="en-US" altLang="zh-CN" sz="91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 sz="91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排课</a:t>
            </a:r>
            <a:r>
              <a:rPr lang="en-US" altLang="zh-CN" sz="91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</a:t>
            </a:r>
            <a:r>
              <a:rPr lang="zh-CN" altLang="en-US" sz="91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待复核」标</a:t>
            </a:r>
            <a:r>
              <a:rPr lang="en-US" altLang="zh-CN" sz="91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91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人审兜底</a:t>
            </a:r>
            <a:endParaRPr lang="zh-CN" altLang="en-US" sz="910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40740" y="4708525"/>
            <a:ext cx="3090545" cy="368300"/>
          </a:xfrm>
          <a:prstGeom prst="rect">
            <a:avLst/>
          </a:prstGeom>
          <a:solidFill>
            <a:srgbClr val="F7F7F7"/>
          </a:solidFill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94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</a:t>
            </a:r>
            <a:r>
              <a:rPr lang="en-US" altLang="zh-CN" sz="94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sz="94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散语料一键转可教的学习计划</a:t>
            </a:r>
            <a:endParaRPr lang="zh-CN" altLang="en-US" sz="940" b="1">
              <a:solidFill>
                <a:srgbClr val="D339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4370705" y="1280160"/>
            <a:ext cx="3456305" cy="473646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4370705" y="1280160"/>
            <a:ext cx="3456305" cy="73025"/>
          </a:xfrm>
          <a:prstGeom prst="rect">
            <a:avLst/>
          </a:prstGeom>
          <a:solidFill>
            <a:srgbClr val="55575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4553585" y="1536065"/>
            <a:ext cx="309054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112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</a:t>
            </a:r>
            <a:r>
              <a:rPr lang="en-US" altLang="zh-CN" sz="112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skill </a:t>
            </a:r>
            <a:r>
              <a:rPr lang="zh-CN" altLang="en-US" sz="112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体积不随语料膨胀</a:t>
            </a:r>
            <a:endParaRPr lang="zh-CN" altLang="en-US" sz="1120" b="1">
              <a:solidFill>
                <a:srgbClr val="2021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553585" y="2395220"/>
            <a:ext cx="309054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r>
              <a:rPr lang="en-US" altLang="zh-CN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语料持续增加</a:t>
            </a:r>
            <a:r>
              <a:rPr lang="en-US" altLang="zh-CN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若全堆</a:t>
            </a:r>
            <a:r>
              <a:rPr lang="en-US" altLang="zh-CN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SKILL.md,</a:t>
            </a:r>
            <a:r>
              <a:rPr lang="zh-CN" altLang="en-US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文件越来越大、加载慢、难维护</a:t>
            </a:r>
            <a:endParaRPr lang="zh-CN" altLang="en-US" sz="930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553585" y="3255010"/>
            <a:ext cx="309054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91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解法</a:t>
            </a:r>
            <a:r>
              <a:rPr lang="en-US" altLang="zh-CN" sz="91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:SKILL.md </a:t>
            </a:r>
            <a:r>
              <a:rPr lang="zh-CN" altLang="en-US" sz="91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只放规则</a:t>
            </a:r>
            <a:r>
              <a:rPr lang="en-US" altLang="zh-CN" sz="91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91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知识按域分文件</a:t>
            </a:r>
            <a:r>
              <a:rPr lang="en-US" altLang="zh-CN" sz="91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91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每条概念一个</a:t>
            </a:r>
            <a:r>
              <a:rPr lang="en-US" altLang="zh-CN" sz="91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yaml;</a:t>
            </a:r>
            <a:r>
              <a:rPr lang="zh-CN" altLang="en-US" sz="91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未迁移域保留</a:t>
            </a:r>
            <a:r>
              <a:rPr lang="en-US" altLang="zh-CN" sz="91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outline → </a:t>
            </a:r>
            <a:r>
              <a:rPr lang="zh-CN" altLang="en-US" sz="91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加语料</a:t>
            </a:r>
            <a:r>
              <a:rPr lang="en-US" altLang="zh-CN" sz="91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</a:t>
            </a:r>
            <a:r>
              <a:rPr lang="zh-CN" altLang="en-US" sz="91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加文件</a:t>
            </a:r>
            <a:r>
              <a:rPr lang="en-US" altLang="zh-CN" sz="91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91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不是撑大单文件</a:t>
            </a:r>
            <a:endParaRPr lang="zh-CN" altLang="en-US" sz="910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553585" y="4708525"/>
            <a:ext cx="3090545" cy="368300"/>
          </a:xfrm>
          <a:prstGeom prst="rect">
            <a:avLst/>
          </a:prstGeom>
          <a:solidFill>
            <a:srgbClr val="F7F7F7"/>
          </a:solidFill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94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</a:t>
            </a:r>
            <a:r>
              <a:rPr lang="en-US" altLang="zh-CN" sz="94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sz="94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体积可控、按需加载、易维护、可增量扩充</a:t>
            </a:r>
            <a:endParaRPr lang="zh-CN" altLang="en-US" sz="940" b="1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8082915" y="1280160"/>
            <a:ext cx="3456305" cy="473646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082915" y="1280160"/>
            <a:ext cx="3456305" cy="73025"/>
          </a:xfrm>
          <a:prstGeom prst="rect">
            <a:avLst/>
          </a:prstGeom>
          <a:solidFill>
            <a:srgbClr val="D3385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8265795" y="1536065"/>
            <a:ext cx="309054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112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</a:t>
            </a:r>
            <a:r>
              <a:rPr lang="en-US" altLang="zh-CN" sz="112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12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语料锚定</a:t>
            </a:r>
            <a:r>
              <a:rPr lang="en-US" altLang="zh-CN" sz="112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12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出处可回查</a:t>
            </a:r>
            <a:r>
              <a:rPr lang="en-US" altLang="zh-CN" sz="112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112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</a:t>
            </a:r>
            <a:r>
              <a:rPr lang="en-US" altLang="zh-CN" sz="112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EDA </a:t>
            </a:r>
            <a:r>
              <a:rPr lang="zh-CN" altLang="en-US" sz="112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知识可信</a:t>
            </a:r>
            <a:endParaRPr lang="zh-CN" altLang="en-US" sz="1120" b="1">
              <a:solidFill>
                <a:srgbClr val="2021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265795" y="2395220"/>
            <a:ext cx="309054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r>
              <a:rPr lang="en-US" altLang="zh-CN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通用大模型问</a:t>
            </a:r>
            <a:r>
              <a:rPr lang="en-US" altLang="zh-CN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EDA </a:t>
            </a:r>
            <a:r>
              <a:rPr lang="zh-CN" altLang="en-US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会编造命令</a:t>
            </a:r>
            <a:r>
              <a:rPr lang="en-US" altLang="zh-CN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</a:t>
            </a:r>
            <a:r>
              <a:rPr lang="en-US" altLang="zh-CN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</a:t>
            </a:r>
            <a:r>
              <a:rPr lang="en-US" altLang="zh-CN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93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高专业度领域不可信</a:t>
            </a:r>
            <a:endParaRPr lang="zh-CN" altLang="en-US" sz="930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65795" y="3255010"/>
            <a:ext cx="309054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91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解法</a:t>
            </a:r>
            <a:r>
              <a:rPr lang="en-US" altLang="zh-CN" sz="91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sz="91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教学</a:t>
            </a:r>
            <a:r>
              <a:rPr lang="en-US" altLang="zh-CN" sz="91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91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查询时</a:t>
            </a:r>
            <a:r>
              <a:rPr lang="en-US" altLang="zh-CN" sz="91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LLM </a:t>
            </a:r>
            <a:r>
              <a:rPr lang="zh-CN" altLang="en-US" sz="91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讲任何具体事实</a:t>
            </a:r>
            <a:r>
              <a:rPr lang="en-US" altLang="zh-CN" sz="91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91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r>
              <a:rPr lang="en-US" altLang="zh-CN" sz="91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91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命令都带</a:t>
            </a:r>
            <a:r>
              <a:rPr lang="en-US" altLang="zh-CN" sz="91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[</a:t>
            </a:r>
            <a:r>
              <a:rPr lang="zh-CN" altLang="en-US" sz="91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出处</a:t>
            </a:r>
            <a:r>
              <a:rPr lang="en-US" altLang="zh-CN" sz="91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:xxx.md </a:t>
            </a:r>
            <a:r>
              <a:rPr lang="zh-CN" altLang="en-US" sz="91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§小节</a:t>
            </a:r>
            <a:r>
              <a:rPr lang="en-US" altLang="zh-CN" sz="91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] </a:t>
            </a:r>
            <a:r>
              <a:rPr lang="zh-CN" altLang="en-US" sz="91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索引</a:t>
            </a:r>
            <a:r>
              <a:rPr lang="en-US" altLang="zh-CN" sz="91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91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可精确回查</a:t>
            </a:r>
            <a:r>
              <a:rPr lang="en-US" altLang="zh-CN" sz="91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r>
              <a:rPr lang="zh-CN" altLang="en-US" sz="91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没覆盖的明说「语料未覆盖」</a:t>
            </a:r>
            <a:r>
              <a:rPr lang="en-US" altLang="zh-CN" sz="91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r>
              <a:rPr lang="zh-CN" altLang="en-US" sz="91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沉淀阶段还有</a:t>
            </a:r>
            <a:r>
              <a:rPr lang="en-US" altLang="zh-CN" sz="91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G1 </a:t>
            </a:r>
            <a:r>
              <a:rPr lang="zh-CN" altLang="en-US" sz="91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门禁</a:t>
            </a:r>
            <a:r>
              <a:rPr lang="en-US" altLang="zh-CN" sz="91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(source traceable)</a:t>
            </a:r>
            <a:r>
              <a:rPr lang="zh-CN" altLang="en-US" sz="91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兜底</a:t>
            </a:r>
            <a:endParaRPr lang="zh-CN" altLang="en-US" sz="910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265795" y="4708525"/>
            <a:ext cx="3090545" cy="368300"/>
          </a:xfrm>
          <a:prstGeom prst="rect">
            <a:avLst/>
          </a:prstGeom>
          <a:solidFill>
            <a:srgbClr val="F7F7F7"/>
          </a:solidFill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940" b="1">
                <a:solidFill>
                  <a:srgbClr val="D338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</a:t>
            </a:r>
            <a:r>
              <a:rPr lang="en-US" altLang="zh-CN" sz="940" b="1">
                <a:solidFill>
                  <a:srgbClr val="D338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sz="940" b="1">
                <a:solidFill>
                  <a:srgbClr val="D338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不只新人敢信</a:t>
            </a:r>
            <a:r>
              <a:rPr lang="en-US" altLang="zh-CN" sz="940" b="1">
                <a:solidFill>
                  <a:srgbClr val="D338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940" b="1">
                <a:solidFill>
                  <a:srgbClr val="D338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所有同事查</a:t>
            </a:r>
            <a:r>
              <a:rPr lang="en-US" altLang="zh-CN" sz="940" b="1">
                <a:solidFill>
                  <a:srgbClr val="D338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EDA </a:t>
            </a:r>
            <a:r>
              <a:rPr lang="zh-CN" altLang="en-US" sz="940" b="1">
                <a:solidFill>
                  <a:srgbClr val="D338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都敢信、能核对</a:t>
            </a:r>
            <a:r>
              <a:rPr lang="en-US" altLang="zh-CN" sz="940" b="1">
                <a:solidFill>
                  <a:srgbClr val="D338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 sz="940" b="1">
                <a:solidFill>
                  <a:srgbClr val="D338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从根上解决大模型编造这个团队级痛点</a:t>
            </a:r>
            <a:endParaRPr lang="zh-CN" altLang="en-US" sz="940" b="1">
              <a:solidFill>
                <a:srgbClr val="D338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57860" y="274320"/>
            <a:ext cx="1069848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260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阶段成果</a:t>
            </a:r>
            <a:r>
              <a:rPr lang="en-US" altLang="zh-CN" sz="260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sz="260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已就绪</a:t>
            </a:r>
            <a:r>
              <a:rPr lang="en-US" altLang="zh-CN" sz="260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260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可分发</a:t>
            </a:r>
            <a:endParaRPr lang="zh-CN" altLang="en-US" sz="2600" b="1">
              <a:solidFill>
                <a:srgbClr val="2021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57860" y="859155"/>
            <a:ext cx="731520" cy="36830"/>
          </a:xfrm>
          <a:prstGeom prst="rect">
            <a:avLst/>
          </a:prstGeom>
          <a:solidFill>
            <a:srgbClr val="D3394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657860" y="6473825"/>
            <a:ext cx="10881360" cy="635"/>
          </a:xfrm>
          <a:prstGeom prst="line">
            <a:avLst/>
          </a:prstGeom>
          <a:ln w="889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90580" y="6501130"/>
            <a:ext cx="50228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r"/>
            <a:r>
              <a:rPr lang="en-US" altLang="en-US" sz="800" b="1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</a:rPr>
              <a:t>07</a:t>
            </a:r>
            <a:endParaRPr lang="en-US" altLang="en-US" sz="800" b="1">
              <a:solidFill>
                <a:srgbClr val="89898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657860" y="1151890"/>
            <a:ext cx="2524125" cy="126174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04545" y="1353185"/>
            <a:ext cx="223075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en-US" altLang="en-US" sz="290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</a:rPr>
              <a:t>68</a:t>
            </a:r>
            <a:endParaRPr lang="en-US" altLang="en-US" sz="2900" b="1">
              <a:solidFill>
                <a:srgbClr val="D339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04545" y="1864995"/>
            <a:ext cx="223075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zh-CN" altLang="en-US" sz="110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</a:rPr>
              <a:t>概念卡</a:t>
            </a:r>
            <a:endParaRPr lang="zh-CN" altLang="en-US" sz="1100" b="1">
              <a:solidFill>
                <a:srgbClr val="2021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3456305" y="1151890"/>
            <a:ext cx="2523490" cy="126174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602355" y="1353185"/>
            <a:ext cx="223075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en-US" altLang="en-US" sz="290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</a:rPr>
              <a:t>21</a:t>
            </a:r>
            <a:endParaRPr lang="en-US" altLang="en-US" sz="2900" b="1">
              <a:solidFill>
                <a:srgbClr val="D339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602355" y="1864995"/>
            <a:ext cx="223075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zh-CN" altLang="en-US" sz="110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</a:rPr>
              <a:t>课程</a:t>
            </a:r>
            <a:endParaRPr lang="zh-CN" altLang="en-US" sz="1100" b="1">
              <a:solidFill>
                <a:srgbClr val="2021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6254115" y="1151890"/>
            <a:ext cx="2524125" cy="126174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400800" y="1353185"/>
            <a:ext cx="223075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en-US" altLang="en-US" sz="290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</a:rPr>
              <a:t>24</a:t>
            </a:r>
            <a:endParaRPr lang="en-US" altLang="en-US" sz="2900" b="1">
              <a:solidFill>
                <a:srgbClr val="D339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400800" y="1864995"/>
            <a:ext cx="223075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zh-CN" altLang="en-US" sz="110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</a:rPr>
              <a:t>语料出处</a:t>
            </a:r>
            <a:endParaRPr lang="zh-CN" altLang="en-US" sz="1100" b="1">
              <a:solidFill>
                <a:srgbClr val="2021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9051925" y="1151890"/>
            <a:ext cx="2487295" cy="126174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2B23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9235440" y="1426210"/>
            <a:ext cx="212090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zh-CN" altLang="en-US" sz="1400" b="1">
                <a:solidFill>
                  <a:srgbClr val="62B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</a:t>
            </a:r>
            <a:r>
              <a:rPr lang="en-US" altLang="zh-CN" sz="1400" b="1">
                <a:solidFill>
                  <a:srgbClr val="62B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400" b="1">
                <a:solidFill>
                  <a:srgbClr val="62B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查双用途</a:t>
            </a:r>
            <a:endParaRPr lang="zh-CN" altLang="en-US" sz="1400" b="1">
              <a:solidFill>
                <a:srgbClr val="62B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235440" y="1828800"/>
            <a:ext cx="212090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zh-CN" altLang="en-US" sz="90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</a:rPr>
              <a:t>一份投入两类受众</a:t>
            </a:r>
            <a:endParaRPr lang="zh-CN" altLang="en-US" sz="900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67715" y="2687955"/>
            <a:ext cx="32893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en-US" altLang="en-US" sz="100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altLang="en-US" sz="1000" b="1">
              <a:solidFill>
                <a:srgbClr val="D339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170305" y="2642235"/>
            <a:ext cx="1014984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96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知识库规模</a:t>
            </a:r>
            <a:r>
              <a:rPr lang="en-US" altLang="zh-CN" sz="96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sz="96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概念卡</a:t>
            </a:r>
            <a:r>
              <a:rPr lang="en-US" altLang="zh-CN" sz="96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68 </a:t>
            </a:r>
            <a:r>
              <a:rPr lang="zh-CN" altLang="en-US" sz="96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r>
              <a:rPr lang="en-US" altLang="zh-CN" sz="96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(STA 39 / RC 25 / </a:t>
            </a:r>
            <a:r>
              <a:rPr lang="zh-CN" altLang="en-US" sz="96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</a:t>
            </a:r>
            <a:r>
              <a:rPr lang="en-US" altLang="zh-CN" sz="96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4)</a:t>
            </a:r>
            <a:r>
              <a:rPr lang="zh-CN" altLang="en-US" sz="96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、课程</a:t>
            </a:r>
            <a:r>
              <a:rPr lang="en-US" altLang="zh-CN" sz="96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21 </a:t>
            </a:r>
            <a:r>
              <a:rPr lang="zh-CN" altLang="en-US" sz="96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节、语料出处</a:t>
            </a:r>
            <a:r>
              <a:rPr lang="en-US" altLang="zh-CN" sz="96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24 </a:t>
            </a:r>
            <a:r>
              <a:rPr lang="zh-CN" altLang="en-US" sz="96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r>
              <a:rPr lang="en-US" altLang="zh-CN" sz="96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96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公开</a:t>
            </a:r>
            <a:r>
              <a:rPr lang="en-US" altLang="zh-CN" sz="96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17 / </a:t>
            </a:r>
            <a:r>
              <a:rPr lang="zh-CN" altLang="en-US" sz="96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</a:t>
            </a:r>
            <a:r>
              <a:rPr lang="en-US" altLang="zh-CN" sz="96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8)</a:t>
            </a:r>
            <a:endParaRPr lang="en-US" altLang="zh-CN" sz="960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67715" y="3218180"/>
            <a:ext cx="32893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en-US" altLang="en-US" sz="100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en-US" sz="1000" b="1">
              <a:solidFill>
                <a:srgbClr val="D339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170305" y="3172460"/>
            <a:ext cx="1014984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96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闭环跑通</a:t>
            </a:r>
            <a:r>
              <a:rPr lang="en-US" altLang="zh-CN" sz="96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sz="96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语料</a:t>
            </a:r>
            <a:r>
              <a:rPr lang="en-US" altLang="zh-CN" sz="96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96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候选</a:t>
            </a:r>
            <a:r>
              <a:rPr lang="en-US" altLang="zh-CN" sz="96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G1-G7 </a:t>
            </a:r>
            <a:r>
              <a:rPr lang="zh-CN" altLang="en-US" sz="96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门禁</a:t>
            </a:r>
            <a:r>
              <a:rPr lang="en-US" altLang="zh-CN" sz="96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96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知识卡</a:t>
            </a:r>
            <a:r>
              <a:rPr lang="en-US" altLang="zh-CN" sz="96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96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知识库可自生长</a:t>
            </a:r>
            <a:endParaRPr lang="zh-CN" altLang="en-US" sz="960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67715" y="3749040"/>
            <a:ext cx="32893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en-US" altLang="en-US" sz="100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en-US" sz="1000" b="1">
              <a:solidFill>
                <a:srgbClr val="D339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170305" y="3703320"/>
            <a:ext cx="1014984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96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可信查询就绪</a:t>
            </a:r>
            <a:r>
              <a:rPr lang="en-US" altLang="zh-CN" sz="96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sz="96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查询带出处、不编造</a:t>
            </a:r>
            <a:r>
              <a:rPr lang="en-US" altLang="zh-CN" sz="96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96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可作团队</a:t>
            </a:r>
            <a:r>
              <a:rPr lang="en-US" altLang="zh-CN" sz="96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EDA </a:t>
            </a:r>
            <a:r>
              <a:rPr lang="zh-CN" altLang="en-US" sz="96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知识可信源</a:t>
            </a:r>
            <a:endParaRPr lang="zh-CN" altLang="en-US" sz="960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67715" y="4279265"/>
            <a:ext cx="32893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en-US" altLang="en-US" sz="100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altLang="en-US" sz="1000" b="1">
              <a:solidFill>
                <a:srgbClr val="D339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170305" y="4233545"/>
            <a:ext cx="1014984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96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可分发</a:t>
            </a:r>
            <a:r>
              <a:rPr lang="en-US" altLang="zh-CN" sz="96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sz="96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已打包成独立</a:t>
            </a:r>
            <a:r>
              <a:rPr lang="en-US" altLang="zh-CN" sz="96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zip,</a:t>
            </a:r>
            <a:r>
              <a:rPr lang="zh-CN" altLang="en-US" sz="96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自动剥离个人数据</a:t>
            </a:r>
            <a:r>
              <a:rPr lang="en-US" altLang="zh-CN" sz="96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96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同事开箱即用、进度互不干扰</a:t>
            </a:r>
            <a:endParaRPr lang="zh-CN" altLang="en-US" sz="960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67715" y="4809490"/>
            <a:ext cx="32893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en-US" altLang="en-US" sz="100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altLang="en-US" sz="1000" b="1">
              <a:solidFill>
                <a:srgbClr val="D339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170305" y="4763770"/>
            <a:ext cx="1014984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96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已验证</a:t>
            </a:r>
            <a:r>
              <a:rPr lang="en-US" altLang="zh-CN" sz="96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:1 </a:t>
            </a:r>
            <a:r>
              <a:rPr lang="zh-CN" altLang="en-US" sz="96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个同事已部署试用</a:t>
            </a:r>
            <a:r>
              <a:rPr lang="en-US" altLang="zh-CN" sz="96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96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过程中修复</a:t>
            </a:r>
            <a:r>
              <a:rPr lang="en-US" altLang="zh-CN" sz="96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busboy </a:t>
            </a:r>
            <a:r>
              <a:rPr lang="zh-CN" altLang="en-US" sz="96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依赖遗漏、</a:t>
            </a:r>
            <a:r>
              <a:rPr lang="en-US" altLang="zh-CN" sz="96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 key </a:t>
            </a:r>
            <a:r>
              <a:rPr lang="zh-CN" altLang="en-US" sz="96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泄漏</a:t>
            </a:r>
            <a:r>
              <a:rPr lang="en-US" altLang="zh-CN" sz="96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96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工程严谨</a:t>
            </a:r>
            <a:endParaRPr lang="zh-CN" altLang="en-US" sz="960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767715" y="5339715"/>
            <a:ext cx="32893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en-US" altLang="en-US" sz="100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lang="en-US" altLang="en-US" sz="1000" b="1">
              <a:solidFill>
                <a:srgbClr val="D339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170305" y="5293995"/>
            <a:ext cx="1014984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96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✨</a:t>
            </a:r>
            <a:r>
              <a:rPr lang="en-US" altLang="zh-CN" sz="96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96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一份投入两类受众</a:t>
            </a:r>
            <a:r>
              <a:rPr lang="en-US" altLang="zh-CN" sz="96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sz="96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新人拿来学</a:t>
            </a:r>
            <a:r>
              <a:rPr lang="en-US" altLang="zh-CN" sz="96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96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老员工拿来查可信</a:t>
            </a:r>
            <a:r>
              <a:rPr lang="en-US" altLang="zh-CN" sz="96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EDA </a:t>
            </a:r>
            <a:r>
              <a:rPr lang="zh-CN" altLang="en-US" sz="96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</a:t>
            </a:r>
            <a:endParaRPr lang="zh-CN" altLang="en-US" sz="960" b="1">
              <a:solidFill>
                <a:srgbClr val="D339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57860" y="274320"/>
            <a:ext cx="1069848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260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</a:t>
            </a:r>
            <a:r>
              <a:rPr lang="en-US" altLang="zh-CN" sz="260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sz="260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从个人工具到团队知识平台</a:t>
            </a:r>
            <a:endParaRPr lang="zh-CN" altLang="en-US" sz="2600" b="1">
              <a:solidFill>
                <a:srgbClr val="2021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57860" y="859155"/>
            <a:ext cx="731520" cy="36830"/>
          </a:xfrm>
          <a:prstGeom prst="rect">
            <a:avLst/>
          </a:prstGeom>
          <a:solidFill>
            <a:srgbClr val="D3394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657860" y="6473825"/>
            <a:ext cx="10881360" cy="635"/>
          </a:xfrm>
          <a:prstGeom prst="line">
            <a:avLst/>
          </a:prstGeom>
          <a:ln w="889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90580" y="6501130"/>
            <a:ext cx="50228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r"/>
            <a:r>
              <a:rPr lang="en-US" altLang="en-US" sz="800" b="1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</a:rPr>
              <a:t>08</a:t>
            </a:r>
            <a:endParaRPr lang="en-US" altLang="en-US" sz="800" b="1">
              <a:solidFill>
                <a:srgbClr val="89898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657860" y="1170305"/>
            <a:ext cx="3456940" cy="47180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57860" y="1170305"/>
            <a:ext cx="3456940" cy="603250"/>
          </a:xfrm>
          <a:prstGeom prst="rect">
            <a:avLst/>
          </a:prstGeom>
          <a:solidFill>
            <a:srgbClr val="D3394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22960" y="1334770"/>
            <a:ext cx="312674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近期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(1-2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59155" y="2011045"/>
            <a:ext cx="36512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en-US" altLang="en-US" sz="100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altLang="en-US" sz="1000" b="1">
              <a:solidFill>
                <a:srgbClr val="D339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297940" y="1956435"/>
            <a:ext cx="257810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100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</a:rPr>
              <a:t>多文件排课落地完善</a:t>
            </a:r>
            <a:endParaRPr lang="zh-CN" altLang="en-US" sz="1000" b="1">
              <a:solidFill>
                <a:srgbClr val="2021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59155" y="2870835"/>
            <a:ext cx="36512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en-US" altLang="en-US" sz="100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en-US" sz="1000" b="1">
              <a:solidFill>
                <a:srgbClr val="D339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297940" y="2816225"/>
            <a:ext cx="257810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en-US" altLang="en-US" sz="100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2-3 </a:t>
            </a:r>
            <a:r>
              <a:rPr lang="zh-CN" altLang="en-US" sz="100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新人</a:t>
            </a:r>
            <a:r>
              <a:rPr lang="en-US" altLang="zh-CN" sz="100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+ 1-2 </a:t>
            </a:r>
            <a:r>
              <a:rPr lang="zh-CN" altLang="en-US" sz="100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老员工试点</a:t>
            </a:r>
            <a:r>
              <a:rPr lang="en-US" altLang="zh-CN" sz="100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100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</a:t>
            </a:r>
            <a:r>
              <a:rPr lang="en-US" altLang="zh-CN" sz="100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00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</a:t>
            </a:r>
            <a:r>
              <a:rPr lang="en-US" altLang="zh-CN" sz="100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sz="1000">
              <a:solidFill>
                <a:srgbClr val="2021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59155" y="3730625"/>
            <a:ext cx="36512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en-US" altLang="en-US" sz="100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en-US" sz="1000" b="1">
              <a:solidFill>
                <a:srgbClr val="D339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297940" y="3675380"/>
            <a:ext cx="257810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100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</a:t>
            </a:r>
            <a:r>
              <a:rPr lang="en-US" altLang="zh-CN" sz="100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 </a:t>
            </a:r>
            <a:r>
              <a:rPr lang="zh-CN" altLang="en-US" sz="100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r>
              <a:rPr lang="en-US" altLang="zh-CN" sz="100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legacy </a:t>
            </a:r>
            <a:r>
              <a:rPr lang="zh-CN" altLang="en-US" sz="100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域</a:t>
            </a:r>
            <a:r>
              <a:rPr lang="en-US" altLang="zh-CN" sz="100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100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扩查询覆盖</a:t>
            </a:r>
            <a:endParaRPr lang="zh-CN" altLang="en-US" sz="1000">
              <a:solidFill>
                <a:srgbClr val="2021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4370705" y="1170305"/>
            <a:ext cx="3456305" cy="47180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370705" y="1170305"/>
            <a:ext cx="3456305" cy="603250"/>
          </a:xfrm>
          <a:prstGeom prst="rect">
            <a:avLst/>
          </a:prstGeom>
          <a:solidFill>
            <a:srgbClr val="55575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4535170" y="1334770"/>
            <a:ext cx="312674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中期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(3-6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572000" y="2011045"/>
            <a:ext cx="36512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en-US" altLang="en-US" sz="100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altLang="en-US" sz="1000" b="1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010785" y="1956435"/>
            <a:ext cx="257810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100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内网共享部署</a:t>
            </a:r>
            <a:r>
              <a:rPr lang="en-US" altLang="zh-CN" sz="100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100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开浏览器即用</a:t>
            </a:r>
            <a:r>
              <a:rPr lang="en-US" altLang="zh-CN" sz="100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100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零安装</a:t>
            </a:r>
            <a:r>
              <a:rPr lang="en-US" altLang="zh-CN" sz="100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sz="1000" b="1">
              <a:solidFill>
                <a:srgbClr val="2021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572000" y="2870835"/>
            <a:ext cx="36512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en-US" altLang="en-US" sz="100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en-US" sz="1000" b="1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010785" y="2816225"/>
            <a:ext cx="257810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100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团队知识共建</a:t>
            </a:r>
            <a:r>
              <a:rPr lang="en-US" altLang="zh-CN" sz="100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100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多人贡献语料</a:t>
            </a:r>
            <a:r>
              <a:rPr lang="en-US" altLang="zh-CN" sz="100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zh-CN" altLang="en-US" sz="100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门禁沉淀</a:t>
            </a:r>
            <a:r>
              <a:rPr lang="en-US" altLang="zh-CN" sz="100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sz="1000">
              <a:solidFill>
                <a:srgbClr val="2021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572000" y="3730625"/>
            <a:ext cx="36512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en-US" altLang="en-US" sz="100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en-US" sz="1000" b="1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010785" y="3675380"/>
            <a:ext cx="257810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100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接入更多手册</a:t>
            </a:r>
            <a:r>
              <a:rPr lang="en-US" altLang="zh-CN" sz="100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100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物理设计</a:t>
            </a:r>
            <a:r>
              <a:rPr lang="en-US" altLang="zh-CN" sz="100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00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功耗完整性</a:t>
            </a:r>
            <a:r>
              <a:rPr lang="en-US" altLang="zh-CN" sz="100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sz="1000">
              <a:solidFill>
                <a:srgbClr val="2021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8082915" y="1170305"/>
            <a:ext cx="3456305" cy="47180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8082915" y="1170305"/>
            <a:ext cx="3456305" cy="603250"/>
          </a:xfrm>
          <a:prstGeom prst="rect">
            <a:avLst/>
          </a:prstGeom>
          <a:solidFill>
            <a:srgbClr val="62B23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8247380" y="1334770"/>
            <a:ext cx="312674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愿景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284210" y="2011045"/>
            <a:ext cx="36512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en-US" altLang="en-US" sz="1000" b="1">
                <a:solidFill>
                  <a:srgbClr val="62B230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altLang="en-US" sz="1000" b="1">
              <a:solidFill>
                <a:srgbClr val="62B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722995" y="1956435"/>
            <a:ext cx="257810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100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</a:t>
            </a:r>
            <a:r>
              <a:rPr lang="en-US" altLang="zh-CN" sz="100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EDA </a:t>
            </a:r>
            <a:r>
              <a:rPr lang="zh-CN" altLang="en-US" sz="100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知识沉淀</a:t>
            </a:r>
            <a:endParaRPr lang="zh-CN" altLang="en-US" sz="1000" b="1">
              <a:solidFill>
                <a:srgbClr val="2021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4210" y="2870835"/>
            <a:ext cx="36512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en-US" altLang="en-US" sz="1000" b="1">
                <a:solidFill>
                  <a:srgbClr val="62B230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en-US" sz="1000" b="1">
              <a:solidFill>
                <a:srgbClr val="62B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8722995" y="2816225"/>
            <a:ext cx="257810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en-US" altLang="en-US" sz="100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 </a:t>
            </a:r>
            <a:r>
              <a:rPr lang="zh-CN" altLang="en-US" sz="100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可信查询</a:t>
            </a:r>
            <a:endParaRPr lang="zh-CN" altLang="en-US" sz="1000">
              <a:solidFill>
                <a:srgbClr val="2021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8284210" y="3730625"/>
            <a:ext cx="36512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en-US" altLang="en-US" sz="1000" b="1">
                <a:solidFill>
                  <a:srgbClr val="62B230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en-US" sz="1000" b="1">
              <a:solidFill>
                <a:srgbClr val="62B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722995" y="3675380"/>
            <a:ext cx="257810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en-US" altLang="en-US" sz="100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 </a:t>
            </a:r>
            <a:r>
              <a:rPr lang="zh-CN" altLang="en-US" sz="100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新人培养标准工具</a:t>
            </a:r>
            <a:endParaRPr lang="zh-CN" altLang="en-US" sz="1000">
              <a:solidFill>
                <a:srgbClr val="2021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284210" y="4589780"/>
            <a:ext cx="36512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en-US" altLang="en-US" sz="1000" b="1">
                <a:solidFill>
                  <a:srgbClr val="62B230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altLang="en-US" sz="1000" b="1">
              <a:solidFill>
                <a:srgbClr val="62B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8722995" y="4535170"/>
            <a:ext cx="257810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100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个人经验</a:t>
            </a:r>
            <a:r>
              <a:rPr lang="en-US" altLang="zh-CN" sz="100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zh-CN" altLang="en-US" sz="100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可溯源组织资产</a:t>
            </a:r>
            <a:endParaRPr lang="zh-CN" altLang="en-US" sz="1000">
              <a:solidFill>
                <a:srgbClr val="2021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57860" y="274320"/>
            <a:ext cx="10698480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2600" b="1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</a:rPr>
              <a:t>价值与总结</a:t>
            </a:r>
            <a:endParaRPr lang="zh-CN" altLang="en-US" sz="2600" b="1">
              <a:solidFill>
                <a:srgbClr val="2021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57860" y="859155"/>
            <a:ext cx="731520" cy="36830"/>
          </a:xfrm>
          <a:prstGeom prst="rect">
            <a:avLst/>
          </a:prstGeom>
          <a:solidFill>
            <a:srgbClr val="D3394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657860" y="6473825"/>
            <a:ext cx="10881360" cy="635"/>
          </a:xfrm>
          <a:prstGeom prst="line">
            <a:avLst/>
          </a:prstGeom>
          <a:ln w="889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90580" y="6501130"/>
            <a:ext cx="50228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r"/>
            <a:r>
              <a:rPr lang="en-US" altLang="en-US" sz="800" b="1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</a:rPr>
              <a:t>09</a:t>
            </a:r>
            <a:endParaRPr lang="en-US" altLang="en-US" sz="800" b="1">
              <a:solidFill>
                <a:srgbClr val="89898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657860" y="1115060"/>
            <a:ext cx="10881360" cy="51244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40740" y="1170305"/>
            <a:ext cx="36512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en-US" altLang="en-US" sz="1100" b="1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altLang="en-US" sz="1100" b="1">
              <a:solidFill>
                <a:srgbClr val="89898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97940" y="1133475"/>
            <a:ext cx="996632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104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对个人</a:t>
            </a:r>
            <a:r>
              <a:rPr lang="en-US" altLang="zh-CN" sz="104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104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新人</a:t>
            </a:r>
            <a:r>
              <a:rPr lang="en-US" altLang="zh-CN" sz="104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):</a:t>
            </a:r>
            <a:r>
              <a:rPr lang="zh-CN" altLang="en-US" sz="104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有计划地学、随时能问、进度可追踪</a:t>
            </a:r>
            <a:endParaRPr lang="zh-CN" altLang="en-US" sz="1040">
              <a:solidFill>
                <a:srgbClr val="2021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657860" y="1773555"/>
            <a:ext cx="10881360" cy="5118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840740" y="1828800"/>
            <a:ext cx="36512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en-US" altLang="en-US" sz="1100" b="1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en-US" sz="1100" b="1">
              <a:solidFill>
                <a:srgbClr val="89898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97940" y="1791970"/>
            <a:ext cx="996632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104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对个人</a:t>
            </a:r>
            <a:r>
              <a:rPr lang="en-US" altLang="zh-CN" sz="104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104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老员工</a:t>
            </a:r>
            <a:r>
              <a:rPr lang="en-US" altLang="zh-CN" sz="104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 </a:t>
            </a:r>
            <a:r>
              <a:rPr lang="zh-CN" altLang="en-US" sz="104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✨</a:t>
            </a:r>
            <a:r>
              <a:rPr lang="en-US" altLang="zh-CN" sz="104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sz="104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</a:t>
            </a:r>
            <a:r>
              <a:rPr lang="en-US" altLang="zh-CN" sz="104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EDA </a:t>
            </a:r>
            <a:r>
              <a:rPr lang="zh-CN" altLang="en-US" sz="104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带出处、不编造</a:t>
            </a:r>
            <a:r>
              <a:rPr lang="en-US" altLang="zh-CN" sz="104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104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告别「大模型看着对其实错」的踩坑</a:t>
            </a:r>
            <a:endParaRPr lang="zh-CN" altLang="en-US" sz="1040">
              <a:solidFill>
                <a:srgbClr val="2021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657860" y="2432050"/>
            <a:ext cx="10881360" cy="5118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840740" y="2486660"/>
            <a:ext cx="36512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en-US" altLang="en-US" sz="1100" b="1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en-US" sz="1100" b="1">
              <a:solidFill>
                <a:srgbClr val="89898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297940" y="2450465"/>
            <a:ext cx="996632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104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对团队</a:t>
            </a:r>
            <a:r>
              <a:rPr lang="en-US" altLang="zh-CN" sz="104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sz="104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带新不靠老员工腾时间</a:t>
            </a:r>
            <a:r>
              <a:rPr lang="en-US" altLang="zh-CN" sz="104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r>
              <a:rPr lang="zh-CN" altLang="en-US" sz="104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查询有统一可信源</a:t>
            </a:r>
            <a:r>
              <a:rPr lang="en-US" altLang="zh-CN" sz="104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104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减少以讹传讹</a:t>
            </a:r>
            <a:endParaRPr lang="zh-CN" altLang="en-US" sz="1040">
              <a:solidFill>
                <a:srgbClr val="2021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657860" y="3090545"/>
            <a:ext cx="10881360" cy="5118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840740" y="3145155"/>
            <a:ext cx="36512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en-US" altLang="en-US" sz="1100" b="1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altLang="en-US" sz="1100" b="1">
              <a:solidFill>
                <a:srgbClr val="89898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97940" y="3108960"/>
            <a:ext cx="996632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104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对组织</a:t>
            </a:r>
            <a:r>
              <a:rPr lang="en-US" altLang="zh-CN" sz="104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sz="104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散落手册</a:t>
            </a:r>
            <a:r>
              <a:rPr lang="en-US" altLang="zh-CN" sz="104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04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经验</a:t>
            </a:r>
            <a:r>
              <a:rPr lang="en-US" altLang="zh-CN" sz="104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04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可检索、可溯源、可复用的知识资产</a:t>
            </a:r>
            <a:r>
              <a:rPr lang="en-US" altLang="zh-CN" sz="104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r>
              <a:rPr lang="zh-CN" altLang="en-US" sz="1040">
                <a:solidFill>
                  <a:srgbClr val="2021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国产工具栈经验沉淀</a:t>
            </a:r>
            <a:endParaRPr lang="zh-CN" altLang="en-US" sz="1040">
              <a:solidFill>
                <a:srgbClr val="2021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657860" y="3749040"/>
            <a:ext cx="10881360" cy="511810"/>
          </a:xfrm>
          <a:prstGeom prst="roundRect">
            <a:avLst/>
          </a:prstGeom>
          <a:solidFill>
            <a:srgbClr val="FFF8F8"/>
          </a:solidFill>
          <a:ln w="12700">
            <a:solidFill>
              <a:srgbClr val="EFB2B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840740" y="3803650"/>
            <a:ext cx="36512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en-US" altLang="en-US" sz="110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altLang="en-US" sz="1100" b="1">
              <a:solidFill>
                <a:srgbClr val="D339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297940" y="3766820"/>
            <a:ext cx="996632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104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三个关键特性</a:t>
            </a:r>
            <a:r>
              <a:rPr lang="en-US" altLang="zh-CN" sz="104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sz="104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能长</a:t>
            </a:r>
            <a:r>
              <a:rPr lang="en-US" altLang="zh-CN" sz="104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104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语料闭环</a:t>
            </a:r>
            <a:r>
              <a:rPr lang="en-US" altLang="zh-CN" sz="104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altLang="en-US" sz="104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、不重</a:t>
            </a:r>
            <a:r>
              <a:rPr lang="en-US" altLang="zh-CN" sz="104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104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分文件</a:t>
            </a:r>
            <a:r>
              <a:rPr lang="en-US" altLang="zh-CN" sz="104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altLang="en-US" sz="104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、可信</a:t>
            </a:r>
            <a:r>
              <a:rPr lang="en-US" altLang="zh-CN" sz="104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104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语料锚定不编造</a:t>
            </a:r>
            <a:r>
              <a:rPr lang="en-US" altLang="zh-CN" sz="104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sz="1040" b="1">
              <a:solidFill>
                <a:srgbClr val="D339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657860" y="4406900"/>
            <a:ext cx="10881360" cy="512445"/>
          </a:xfrm>
          <a:prstGeom prst="roundRect">
            <a:avLst/>
          </a:prstGeom>
          <a:solidFill>
            <a:srgbClr val="FFF8F8"/>
          </a:solidFill>
          <a:ln w="12700">
            <a:solidFill>
              <a:srgbClr val="EFB2B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840740" y="4462145"/>
            <a:ext cx="36512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en-US" altLang="en-US" sz="110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lang="en-US" altLang="en-US" sz="1100" b="1">
              <a:solidFill>
                <a:srgbClr val="D339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297940" y="4425315"/>
            <a:ext cx="996632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104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双价值</a:t>
            </a:r>
            <a:r>
              <a:rPr lang="en-US" altLang="zh-CN" sz="104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sz="104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新人学习计划</a:t>
            </a:r>
            <a:r>
              <a:rPr lang="en-US" altLang="zh-CN" sz="104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04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全员可信查询</a:t>
            </a:r>
            <a:r>
              <a:rPr lang="en-US" altLang="zh-CN" sz="104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104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一份投入两类受众</a:t>
            </a:r>
            <a:endParaRPr lang="zh-CN" altLang="en-US" sz="1040" b="1">
              <a:solidFill>
                <a:srgbClr val="D339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657860" y="5065395"/>
            <a:ext cx="10881360" cy="512445"/>
          </a:xfrm>
          <a:prstGeom prst="roundRect">
            <a:avLst/>
          </a:prstGeom>
          <a:solidFill>
            <a:srgbClr val="FFF8F8"/>
          </a:solidFill>
          <a:ln w="12700">
            <a:solidFill>
              <a:srgbClr val="EFB2B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840740" y="5120640"/>
            <a:ext cx="36512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en-US" altLang="en-US" sz="110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</a:rPr>
              <a:t>07</a:t>
            </a:r>
            <a:endParaRPr lang="en-US" altLang="en-US" sz="1100" b="1">
              <a:solidFill>
                <a:srgbClr val="D339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297940" y="5083810"/>
            <a:ext cx="996632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l"/>
            <a:r>
              <a:rPr lang="zh-CN" altLang="en-US" sz="104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请求</a:t>
            </a:r>
            <a:r>
              <a:rPr lang="en-US" altLang="zh-CN" sz="104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sz="104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支持小范围试点</a:t>
            </a:r>
            <a:r>
              <a:rPr lang="en-US" altLang="zh-CN" sz="104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04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后续共享部署资源</a:t>
            </a:r>
            <a:endParaRPr lang="zh-CN" altLang="en-US" sz="1040" b="1">
              <a:solidFill>
                <a:srgbClr val="D339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57860" y="5906770"/>
            <a:ext cx="10880725" cy="368300"/>
          </a:xfrm>
          <a:prstGeom prst="rect">
            <a:avLst/>
          </a:prstGeom>
          <a:noFill/>
        </p:spPr>
        <p:txBody>
          <a:bodyPr wrap="square" lIns="73025" tIns="45720" rIns="73025" bIns="45720" rtlCol="0" anchor="ctr">
            <a:noAutofit/>
          </a:bodyPr>
          <a:p>
            <a:pPr algn="ctr"/>
            <a:r>
              <a:rPr lang="en-US" altLang="en-US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</a:rPr>
              <a:t>THANK YOU · Q&amp;A</a:t>
            </a:r>
            <a:endParaRPr lang="en-US" altLang="en-US" b="1">
              <a:solidFill>
                <a:srgbClr val="D339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2737</Words>
  <Application>WPS 演示</Application>
  <PresentationFormat>宽屏</PresentationFormat>
  <Paragraphs>314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Wingdings</vt:lpstr>
      <vt:lpstr>Arial Unicode MS</vt:lpstr>
      <vt:lpstr>微软雅黑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Administrator</dc:creator>
  <cp:lastModifiedBy>Administrator</cp:lastModifiedBy>
  <cp:revision>157</cp:revision>
  <dcterms:created xsi:type="dcterms:W3CDTF">2019-06-19T02:08:00Z</dcterms:created>
  <dcterms:modified xsi:type="dcterms:W3CDTF">2026-08-27T10:54:40Z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FBBF8C8C1C174CB9AC72F4D97034421A_11</vt:lpwstr>
  </property>
</Properties>
</file>